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14.xml" ContentType="application/vnd.openxmlformats-officedocument.presentationml.notesSlide+xml"/>
  <Override PartName="/ppt/charts/chart3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4.xml" ContentType="application/vnd.openxmlformats-officedocument.drawingml.chart+xml"/>
  <Override PartName="/ppt/notesSlides/notesSlide18.xml" ContentType="application/vnd.openxmlformats-officedocument.presentationml.notes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rts/chart7.xml" ContentType="application/vnd.openxmlformats-officedocument.drawingml.chart+xml"/>
  <Override PartName="/ppt/notesSlides/notesSlide26.xml" ContentType="application/vnd.openxmlformats-officedocument.presentationml.notesSlide+xml"/>
  <Override PartName="/ppt/charts/chart8.xml" ContentType="application/vnd.openxmlformats-officedocument.drawingml.chart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72" r:id="rId2"/>
    <p:sldId id="273" r:id="rId3"/>
    <p:sldId id="274" r:id="rId4"/>
    <p:sldId id="275" r:id="rId5"/>
    <p:sldId id="277" r:id="rId6"/>
    <p:sldId id="278" r:id="rId7"/>
    <p:sldId id="279" r:id="rId8"/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80" r:id="rId25"/>
    <p:sldId id="281" r:id="rId26"/>
    <p:sldId id="282" r:id="rId27"/>
    <p:sldId id="283" r:id="rId28"/>
    <p:sldId id="284" r:id="rId29"/>
    <p:sldId id="285" r:id="rId30"/>
    <p:sldId id="286" r:id="rId3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16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12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by Product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4C9BE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247B-4CFC-A92E-19A8402491F1}"/>
              </c:ext>
            </c:extLst>
          </c:dPt>
          <c:dPt>
            <c:idx val="1"/>
            <c:bubble3D val="0"/>
            <c:spPr>
              <a:solidFill>
                <a:srgbClr val="F5A62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47B-4CFC-A92E-19A8402491F1}"/>
              </c:ext>
            </c:extLst>
          </c:dPt>
          <c:dPt>
            <c:idx val="2"/>
            <c:bubble3D val="0"/>
            <c:spPr>
              <a:solidFill>
                <a:srgbClr val="9575C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47B-4CFC-A92E-19A8402491F1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47B-4CFC-A92E-19A8402491F1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47B-4CFC-A92E-19A8402491F1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47B-4CFC-A92E-19A8402491F1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Skincare</c:v>
                </c:pt>
                <c:pt idx="1">
                  <c:v>Haircare</c:v>
                </c:pt>
                <c:pt idx="2">
                  <c:v>Cosmetics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241.63</c:v>
                </c:pt>
                <c:pt idx="1">
                  <c:v>174.46</c:v>
                </c:pt>
                <c:pt idx="2">
                  <c:v>161.52000000000001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47B-4CFC-A92E-19A8402491F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>
              <a:solidFill>
                <a:srgbClr val="B0BEC5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0F1923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Profit ($K)</c:v>
                </c:pt>
              </c:strCache>
            </c:strRef>
          </c:tx>
          <c:spPr>
            <a:solidFill>
              <a:srgbClr val="4C9BE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 baseline="0">
                    <a:solidFill>
                      <a:srgbClr val="FFFFFF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Delhi</c:v>
                </c:pt>
                <c:pt idx="1">
                  <c:v>Bangalore</c:v>
                </c:pt>
                <c:pt idx="2">
                  <c:v>Chennai</c:v>
                </c:pt>
                <c:pt idx="3">
                  <c:v>Kolkata</c:v>
                </c:pt>
                <c:pt idx="4">
                  <c:v>Mumbai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</c:v>
                </c:pt>
                <c:pt idx="1">
                  <c:v>91</c:v>
                </c:pt>
                <c:pt idx="2">
                  <c:v>108</c:v>
                </c:pt>
                <c:pt idx="3">
                  <c:v>124</c:v>
                </c:pt>
                <c:pt idx="4">
                  <c:v>127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A0-4BF4-A80F-5229677F722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0001"/>
        <c:axId val="10002"/>
      </c:barChart>
      <c:catAx>
        <c:axId val="10001"/>
        <c:scaling>
          <c:orientation val="minMax"/>
        </c:scaling>
        <c:delete val="0"/>
        <c:axPos val="l"/>
        <c:numFmt formatCode="General" sourceLinked="0"/>
        <c:majorTickMark val="cross"/>
        <c:minorTickMark val="cross"/>
        <c:tickLblPos val="nextTo"/>
        <c:spPr>
          <a:ln>
            <a:noFill/>
          </a:ln>
        </c:spPr>
        <c:txPr>
          <a:bodyPr/>
          <a:lstStyle/>
          <a:p>
            <a:pPr>
              <a:defRPr sz="900" b="0" i="0" u="none" strike="noStrike" baseline="0">
                <a:solidFill>
                  <a:srgbClr val="B0BEC5"/>
                </a:solidFill>
              </a:defRPr>
            </a:pPr>
            <a:endParaRPr lang="en-US"/>
          </a:p>
        </c:txPr>
        <c:crossAx val="10002"/>
        <c:crosses val="autoZero"/>
        <c:auto val="1"/>
        <c:lblAlgn val="ctr"/>
        <c:lblOffset val="100"/>
        <c:noMultiLvlLbl val="0"/>
      </c:catAx>
      <c:valAx>
        <c:axId val="10002"/>
        <c:scaling>
          <c:orientation val="minMax"/>
        </c:scaling>
        <c:delete val="0"/>
        <c:axPos val="b"/>
        <c:numFmt formatCode="#,##0" sourceLinked="0"/>
        <c:majorTickMark val="cross"/>
        <c:minorTickMark val="cross"/>
        <c:tickLblPos val="nextTo"/>
        <c:spPr>
          <a:ln>
            <a:noFill/>
          </a:ln>
        </c:spPr>
        <c:txPr>
          <a:bodyPr/>
          <a:lstStyle/>
          <a:p>
            <a:pPr>
              <a:defRPr sz="900" b="0" i="0" u="none" strike="noStrike" baseline="0">
                <a:solidFill>
                  <a:srgbClr val="B0BEC5"/>
                </a:solidFill>
              </a:defRPr>
            </a:pPr>
            <a:endParaRPr lang="en-US"/>
          </a:p>
        </c:txPr>
        <c:crossAx val="10001"/>
        <c:crosses val="autoZero"/>
        <c:crossBetween val="between"/>
      </c:valAx>
    </c:plotArea>
    <c:plotVisOnly val="1"/>
    <c:dispBlanksAs val="gap"/>
    <c:showDLblsOverMax val="0"/>
  </c:chart>
  <c:spPr>
    <a:solidFill>
      <a:srgbClr val="1A2535"/>
    </a:solidFill>
    <a:ln>
      <a:noFill/>
    </a:ln>
    <a:effectLst/>
  </c:spPr>
  <c:txPr>
    <a:bodyPr/>
    <a:lstStyle/>
    <a:p>
      <a:pPr>
        <a:defRPr sz="900" b="0" i="0" u="none" strike="noStrike" baseline="0">
          <a:solidFill>
            <a:srgbClr val="B0BEC5"/>
          </a:solidFill>
        </a:defRPr>
      </a:pPr>
      <a:endParaRPr lang="en-US"/>
    </a:p>
  </c:tx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Profit ($K)</c:v>
                </c:pt>
              </c:strCache>
            </c:strRef>
          </c:tx>
          <c:spPr>
            <a:solidFill>
              <a:srgbClr val="4C9BE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B19-4586-B7A2-1A5C96FB64D9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5B19-4586-B7A2-1A5C96FB64D9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5B19-4586-B7A2-1A5C96FB64D9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5B19-4586-B7A2-1A5C96FB64D9}"/>
              </c:ext>
            </c:extLst>
          </c:dPt>
          <c:dPt>
            <c:idx val="4"/>
            <c:invertIfNegative val="0"/>
            <c:bubble3D val="0"/>
            <c:spPr>
              <a:solidFill>
                <a:srgbClr val="E8544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B19-4586-B7A2-1A5C96FB64D9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Mumbai</c:v>
                </c:pt>
                <c:pt idx="1">
                  <c:v>Kolkata</c:v>
                </c:pt>
                <c:pt idx="2">
                  <c:v>Chennai</c:v>
                </c:pt>
                <c:pt idx="3">
                  <c:v>Bangalore</c:v>
                </c:pt>
                <c:pt idx="4">
                  <c:v>Delhi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127</c:v>
                </c:pt>
                <c:pt idx="1">
                  <c:v>124</c:v>
                </c:pt>
                <c:pt idx="2">
                  <c:v>108</c:v>
                </c:pt>
                <c:pt idx="3">
                  <c:v>91</c:v>
                </c:pt>
                <c:pt idx="4">
                  <c:v>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5B19-4586-B7A2-1A5C96FB64D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0BEC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A3A4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0BEC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A2535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B0BEC5"/>
                </a:solidFill>
                <a:latin typeface="Arial"/>
              </a:defRPr>
            </a:pPr>
            <a:r>
              <a:rPr lang="en-US" sz="1000" b="0" i="0" u="none" strike="noStrike">
                <a:solidFill>
                  <a:srgbClr val="B0BEC5"/>
                </a:solidFill>
                <a:latin typeface="Arial"/>
              </a:rPr>
              <a:t>Lead Time by Supplier (days)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Lead Time</c:v>
                </c:pt>
              </c:strCache>
            </c:strRef>
          </c:tx>
          <c:spPr>
            <a:solidFill>
              <a:srgbClr val="26C6DA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4AF-48DA-B0A5-934F9BE0BF96}"/>
              </c:ext>
            </c:extLst>
          </c:dPt>
          <c:dPt>
            <c:idx val="1"/>
            <c:invertIfNegative val="0"/>
            <c:bubble3D val="0"/>
            <c:spPr>
              <a:solidFill>
                <a:srgbClr val="EF535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4AF-48DA-B0A5-934F9BE0BF96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C4AF-48DA-B0A5-934F9BE0BF96}"/>
              </c:ext>
            </c:extLst>
          </c:dPt>
          <c:dPt>
            <c:idx val="3"/>
            <c:invertIfNegative val="0"/>
            <c:bubble3D val="0"/>
            <c:spPr>
              <a:solidFill>
                <a:srgbClr val="3DDC8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4AF-48DA-B0A5-934F9BE0BF96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C4AF-48DA-B0A5-934F9BE0BF96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Supplier1</c:v>
                </c:pt>
                <c:pt idx="1">
                  <c:v>Supplier2</c:v>
                </c:pt>
                <c:pt idx="2">
                  <c:v>Supplier3</c:v>
                </c:pt>
                <c:pt idx="3">
                  <c:v>Supplier4</c:v>
                </c:pt>
                <c:pt idx="4">
                  <c:v>Supplier5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399</c:v>
                </c:pt>
                <c:pt idx="1">
                  <c:v>408</c:v>
                </c:pt>
                <c:pt idx="2">
                  <c:v>302</c:v>
                </c:pt>
                <c:pt idx="3">
                  <c:v>274</c:v>
                </c:pt>
                <c:pt idx="4">
                  <c:v>325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C4AF-48DA-B0A5-934F9BE0BF9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0BEC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1E2D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0BEC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1F30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31F30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B0BEC5"/>
                </a:solidFill>
                <a:latin typeface="Arial"/>
              </a:defRPr>
            </a:pPr>
            <a:r>
              <a:rPr lang="en-US" sz="1000" b="0" i="0" u="none" strike="noStrike">
                <a:solidFill>
                  <a:srgbClr val="B0BEC5"/>
                </a:solidFill>
                <a:latin typeface="Arial"/>
              </a:rPr>
              <a:t>Defect Rates %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Defect %</c:v>
                </c:pt>
              </c:strCache>
            </c:strRef>
          </c:tx>
          <c:spPr>
            <a:solidFill>
              <a:srgbClr val="3DDC8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B44-48C0-B08B-18887F6DE565}"/>
              </c:ext>
            </c:extLst>
          </c:dPt>
          <c:dPt>
            <c:idx val="1"/>
            <c:invertIfNegative val="0"/>
            <c:bubble3D val="0"/>
            <c:spPr>
              <a:solidFill>
                <a:srgbClr val="26C6D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B44-48C0-B08B-18887F6DE565}"/>
              </c:ext>
            </c:extLst>
          </c:dPt>
          <c:dPt>
            <c:idx val="2"/>
            <c:invertIfNegative val="0"/>
            <c:bubble3D val="0"/>
            <c:spPr>
              <a:solidFill>
                <a:srgbClr val="26C6D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B44-48C0-B08B-18887F6DE565}"/>
              </c:ext>
            </c:extLst>
          </c:dPt>
          <c:dPt>
            <c:idx val="3"/>
            <c:invertIfNegative val="0"/>
            <c:bubble3D val="0"/>
            <c:spPr>
              <a:solidFill>
                <a:srgbClr val="26C6D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B44-48C0-B08B-18887F6DE565}"/>
              </c:ext>
            </c:extLst>
          </c:dPt>
          <c:dPt>
            <c:idx val="4"/>
            <c:invertIfNegative val="0"/>
            <c:bubble3D val="0"/>
            <c:spPr>
              <a:solidFill>
                <a:srgbClr val="EF535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B44-48C0-B08B-18887F6DE565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Supplier1</c:v>
                </c:pt>
                <c:pt idx="1">
                  <c:v>Supplier2</c:v>
                </c:pt>
                <c:pt idx="2">
                  <c:v>Supplier3</c:v>
                </c:pt>
                <c:pt idx="3">
                  <c:v>Supplier4</c:v>
                </c:pt>
                <c:pt idx="4">
                  <c:v>Supplier5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1.8</c:v>
                </c:pt>
                <c:pt idx="1">
                  <c:v>2.36</c:v>
                </c:pt>
                <c:pt idx="2">
                  <c:v>2.4700000000000002</c:v>
                </c:pt>
                <c:pt idx="3">
                  <c:v>2.34</c:v>
                </c:pt>
                <c:pt idx="4">
                  <c:v>2.67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B44-48C0-B08B-18887F6DE56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0BEC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E2D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0BEC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1F30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31F30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B0BEC5"/>
                </a:solidFill>
                <a:latin typeface="Arial"/>
              </a:defRPr>
            </a:pPr>
            <a:r>
              <a:rPr lang="en-US" sz="1000" b="0" i="0" u="none" strike="noStrike">
                <a:solidFill>
                  <a:srgbClr val="B0BEC5"/>
                </a:solidFill>
                <a:latin typeface="Arial"/>
              </a:rPr>
              <a:t>SKU Inspection Results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Inspection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DDC8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F7C-4462-A085-BFE8574053A0}"/>
              </c:ext>
            </c:extLst>
          </c:dPt>
          <c:dPt>
            <c:idx val="1"/>
            <c:bubble3D val="0"/>
            <c:spPr>
              <a:solidFill>
                <a:srgbClr val="EF535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F7C-4462-A085-BFE8574053A0}"/>
              </c:ext>
            </c:extLst>
          </c:dPt>
          <c:dPt>
            <c:idx val="2"/>
            <c:bubble3D val="0"/>
            <c:spPr>
              <a:solidFill>
                <a:srgbClr val="26C6D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F7C-4462-A085-BFE8574053A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F7C-4462-A085-BFE8574053A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F7C-4462-A085-BFE8574053A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F7C-4462-A085-BFE8574053A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Pass</c:v>
                </c:pt>
                <c:pt idx="1">
                  <c:v>Fail</c:v>
                </c:pt>
                <c:pt idx="2">
                  <c:v>Pending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</c:v>
                </c:pt>
                <c:pt idx="1">
                  <c:v>36</c:v>
                </c:pt>
                <c:pt idx="2">
                  <c:v>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F7C-4462-A085-BFE8574053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solidFill>
          <a:srgbClr val="131F30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31F30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FFFFFF"/>
                </a:solidFill>
                <a:latin typeface="Arial"/>
              </a:rPr>
              <a:t>SKU Inspection Results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Inspection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6D6A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B30E-4717-8C08-D5A77E7E68F2}"/>
              </c:ext>
            </c:extLst>
          </c:dPt>
          <c:dPt>
            <c:idx val="1"/>
            <c:bubble3D val="0"/>
            <c:spPr>
              <a:solidFill>
                <a:srgbClr val="EF476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30E-4717-8C08-D5A77E7E68F2}"/>
              </c:ext>
            </c:extLst>
          </c:dPt>
          <c:dPt>
            <c:idx val="2"/>
            <c:bubble3D val="0"/>
            <c:spPr>
              <a:solidFill>
                <a:srgbClr val="FFB70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30E-4717-8C08-D5A77E7E68F2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30E-4717-8C08-D5A77E7E68F2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30E-4717-8C08-D5A77E7E68F2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30E-4717-8C08-D5A77E7E68F2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Pass</c:v>
                </c:pt>
                <c:pt idx="1">
                  <c:v>Fail</c:v>
                </c:pt>
                <c:pt idx="2">
                  <c:v>Pending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</c:v>
                </c:pt>
                <c:pt idx="1">
                  <c:v>36</c:v>
                </c:pt>
                <c:pt idx="2">
                  <c:v>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0E-4717-8C08-D5A77E7E68F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>
              <a:solidFill>
                <a:srgbClr val="B8CAD8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102840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FFFFFF"/>
                </a:solidFill>
                <a:latin typeface="Arial"/>
              </a:defRPr>
            </a:pPr>
            <a:r>
              <a:rPr lang="en-US" sz="1000" b="0" i="0" u="none" strike="noStrike">
                <a:solidFill>
                  <a:srgbClr val="FFFFFF"/>
                </a:solidFill>
                <a:latin typeface="Arial"/>
              </a:rPr>
              <a:t>Defect Rate % by Supplier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Defect Rate %</c:v>
                </c:pt>
              </c:strCache>
            </c:strRef>
          </c:tx>
          <c:spPr>
            <a:solidFill>
              <a:srgbClr val="06D6A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483-4BD3-89A3-E3D26C9D8D8F}"/>
              </c:ext>
            </c:extLst>
          </c:dPt>
          <c:dPt>
            <c:idx val="1"/>
            <c:invertIfNegative val="0"/>
            <c:bubble3D val="0"/>
            <c:spPr>
              <a:solidFill>
                <a:srgbClr val="00B4D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483-4BD3-89A3-E3D26C9D8D8F}"/>
              </c:ext>
            </c:extLst>
          </c:dPt>
          <c:dPt>
            <c:idx val="2"/>
            <c:invertIfNegative val="0"/>
            <c:bubble3D val="0"/>
            <c:spPr>
              <a:solidFill>
                <a:srgbClr val="FFB70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483-4BD3-89A3-E3D26C9D8D8F}"/>
              </c:ext>
            </c:extLst>
          </c:dPt>
          <c:dPt>
            <c:idx val="3"/>
            <c:invertIfNegative val="0"/>
            <c:bubble3D val="0"/>
            <c:spPr>
              <a:solidFill>
                <a:srgbClr val="FF9F1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483-4BD3-89A3-E3D26C9D8D8F}"/>
              </c:ext>
            </c:extLst>
          </c:dPt>
          <c:dPt>
            <c:idx val="4"/>
            <c:invertIfNegative val="0"/>
            <c:bubble3D val="0"/>
            <c:spPr>
              <a:solidFill>
                <a:srgbClr val="EF476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483-4BD3-89A3-E3D26C9D8D8F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Supplier1</c:v>
                </c:pt>
                <c:pt idx="1">
                  <c:v>Supplier4</c:v>
                </c:pt>
                <c:pt idx="2">
                  <c:v>Supplier2</c:v>
                </c:pt>
                <c:pt idx="3">
                  <c:v>Supplier3</c:v>
                </c:pt>
                <c:pt idx="4">
                  <c:v>Supplier5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1.8</c:v>
                </c:pt>
                <c:pt idx="1">
                  <c:v>2.34</c:v>
                </c:pt>
                <c:pt idx="2">
                  <c:v>2.36</c:v>
                </c:pt>
                <c:pt idx="3">
                  <c:v>2.4700000000000002</c:v>
                </c:pt>
                <c:pt idx="4">
                  <c:v>2.67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483-4BD3-89A3-E3D26C9D8D8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8CAD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1A3A5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8CAD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0284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22967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4389120" cy="4389120"/>
          </a:xfrm>
          <a:prstGeom prst="ellipse">
            <a:avLst/>
          </a:prstGeom>
          <a:solidFill>
            <a:srgbClr val="00B4D8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-457200"/>
            <a:ext cx="2560320" cy="2560320"/>
          </a:xfrm>
          <a:prstGeom prst="ellipse">
            <a:avLst/>
          </a:prstGeom>
          <a:solidFill>
            <a:srgbClr val="00B4D8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83880" y="45720"/>
            <a:ext cx="1371600" cy="1371600"/>
          </a:xfrm>
          <a:prstGeom prst="ellipse">
            <a:avLst/>
          </a:prstGeom>
          <a:solidFill>
            <a:srgbClr val="00B4D8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-731520" y="3474720"/>
            <a:ext cx="2286000" cy="2286000"/>
          </a:xfrm>
          <a:prstGeom prst="ellipse">
            <a:avLst/>
          </a:prstGeom>
          <a:solidFill>
            <a:srgbClr val="FFB703">
              <a:alpha val="1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2194560" cy="402336"/>
          </a:xfrm>
          <a:prstGeom prst="roundRect">
            <a:avLst>
              <a:gd name="adj" fmla="val 13636"/>
            </a:avLst>
          </a:prstGeom>
          <a:solidFill>
            <a:srgbClr val="00B4D8">
              <a:alpha val="8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347472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Digital Egypt Pioneers Initiative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11480" y="896112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Supply Chain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411480" y="1783080"/>
            <a:ext cx="7772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Analysis &amp; Optimization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11480" y="260604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Documentation &amp; Presentation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11480" y="3072384"/>
            <a:ext cx="5303520" cy="0"/>
          </a:xfrm>
          <a:prstGeom prst="line">
            <a:avLst/>
          </a:prstGeom>
          <a:noFill/>
          <a:ln w="9525">
            <a:solidFill>
              <a:srgbClr val="5A7A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32186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2 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325880" y="32186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Nehal Al Sharkawy  •  Salma Ashraf  •  Mohammed Ali  •  Marwa Ali • Hadeer Al Saqa •  Hasnaa Amer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35478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by: Eng. Maged Magdy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4133088"/>
            <a:ext cx="2514600" cy="749808"/>
          </a:xfrm>
          <a:prstGeom prst="roundRect">
            <a:avLst>
              <a:gd name="adj" fmla="val 8537"/>
            </a:avLst>
          </a:prstGeom>
          <a:solidFill>
            <a:srgbClr val="112240"/>
          </a:solidFill>
          <a:ln/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11480" y="4133088"/>
            <a:ext cx="2514600" cy="50292"/>
          </a:xfrm>
          <a:prstGeom prst="roundRect">
            <a:avLst>
              <a:gd name="adj" fmla="val 127273"/>
            </a:avLst>
          </a:prstGeom>
          <a:solidFill>
            <a:srgbClr val="00B4D8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420624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Weeks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453542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Duration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46120" y="4133088"/>
            <a:ext cx="2514600" cy="749808"/>
          </a:xfrm>
          <a:prstGeom prst="roundRect">
            <a:avLst>
              <a:gd name="adj" fmla="val 8537"/>
            </a:avLst>
          </a:prstGeom>
          <a:solidFill>
            <a:srgbClr val="112240"/>
          </a:solidFill>
          <a:ln/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46120" y="4133088"/>
            <a:ext cx="2514600" cy="50292"/>
          </a:xfrm>
          <a:prstGeom prst="roundRect">
            <a:avLst>
              <a:gd name="adj" fmla="val 127273"/>
            </a:avLst>
          </a:prstGeom>
          <a:solidFill>
            <a:srgbClr val="FFB703"/>
          </a:solidFill>
          <a:ln/>
        </p:spPr>
      </p:sp>
      <p:sp>
        <p:nvSpPr>
          <p:cNvPr id="21" name="Text 19"/>
          <p:cNvSpPr/>
          <p:nvPr/>
        </p:nvSpPr>
        <p:spPr>
          <a:xfrm>
            <a:off x="3246120" y="420624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Tabs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46120" y="453542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Views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80760" y="4133088"/>
            <a:ext cx="2514600" cy="749808"/>
          </a:xfrm>
          <a:prstGeom prst="roundRect">
            <a:avLst>
              <a:gd name="adj" fmla="val 8537"/>
            </a:avLst>
          </a:prstGeom>
          <a:solidFill>
            <a:srgbClr val="112240"/>
          </a:solidFill>
          <a:ln/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080760" y="4133088"/>
            <a:ext cx="2514600" cy="50292"/>
          </a:xfrm>
          <a:prstGeom prst="roundRect">
            <a:avLst>
              <a:gd name="adj" fmla="val 127273"/>
            </a:avLst>
          </a:prstGeom>
          <a:solidFill>
            <a:srgbClr val="06D6A0"/>
          </a:solidFill>
          <a:ln/>
        </p:spPr>
      </p:sp>
      <p:sp>
        <p:nvSpPr>
          <p:cNvPr id="25" name="Text 23"/>
          <p:cNvSpPr/>
          <p:nvPr/>
        </p:nvSpPr>
        <p:spPr>
          <a:xfrm>
            <a:off x="6080760" y="420624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 KPIs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080760" y="453542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Tracked Metrics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256032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Project Overview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7432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 — and why it matters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188720"/>
            <a:ext cx="4023360" cy="3584448"/>
          </a:xfrm>
          <a:prstGeom prst="roundRect">
            <a:avLst>
              <a:gd name="adj" fmla="val 2041"/>
            </a:avLst>
          </a:prstGeom>
          <a:solidFill>
            <a:srgbClr val="112240"/>
          </a:solidFill>
          <a:ln/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38912" y="131673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❗  Problem Statement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912" y="1719072"/>
            <a:ext cx="3694176" cy="694944"/>
          </a:xfrm>
          <a:prstGeom prst="roundRect">
            <a:avLst>
              <a:gd name="adj" fmla="val 6579"/>
            </a:avLst>
          </a:prstGeom>
          <a:solidFill>
            <a:srgbClr val="1A3357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66928" y="177393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Visibility Gaps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20116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centralized view of supplier performance or logistics costs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8912" y="2542032"/>
            <a:ext cx="3694176" cy="694944"/>
          </a:xfrm>
          <a:prstGeom prst="roundRect">
            <a:avLst>
              <a:gd name="adj" fmla="val 6579"/>
            </a:avLst>
          </a:prstGeom>
          <a:solidFill>
            <a:srgbClr val="1A3357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9689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Scattered Data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283464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CSV data with no actionable insights or trend analysis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8912" y="3364992"/>
            <a:ext cx="3694176" cy="694944"/>
          </a:xfrm>
          <a:prstGeom prst="roundRect">
            <a:avLst>
              <a:gd name="adj" fmla="val 6579"/>
            </a:avLst>
          </a:prstGeom>
          <a:solidFill>
            <a:srgbClr val="1A3357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41985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 ROI Clarity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66928" y="365760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to identify which routes &amp; suppliers yield the best return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38912" y="4187952"/>
            <a:ext cx="3694176" cy="694944"/>
          </a:xfrm>
          <a:prstGeom prst="roundRect">
            <a:avLst>
              <a:gd name="adj" fmla="val 6579"/>
            </a:avLst>
          </a:prstGeom>
          <a:solidFill>
            <a:srgbClr val="1A3357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424281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Manual Process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448056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and ops teams relied on manual Excel calculations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480560" y="1188720"/>
            <a:ext cx="4434840" cy="3584448"/>
          </a:xfrm>
          <a:prstGeom prst="roundRect">
            <a:avLst>
              <a:gd name="adj" fmla="val 2041"/>
            </a:avLst>
          </a:prstGeom>
          <a:solidFill>
            <a:srgbClr val="112240"/>
          </a:solidFill>
          <a:ln/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45152" y="13167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Our Solution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645152" y="1719072"/>
            <a:ext cx="4096512" cy="694944"/>
          </a:xfrm>
          <a:prstGeom prst="roundRect">
            <a:avLst>
              <a:gd name="adj" fmla="val 6579"/>
            </a:avLst>
          </a:prstGeom>
          <a:solidFill>
            <a:srgbClr val="1A3357"/>
          </a:solidFill>
          <a:ln/>
        </p:spPr>
      </p:sp>
      <p:sp>
        <p:nvSpPr>
          <p:cNvPr id="22" name="Text 20"/>
          <p:cNvSpPr/>
          <p:nvPr/>
        </p:nvSpPr>
        <p:spPr>
          <a:xfrm>
            <a:off x="4773168" y="177393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Interactive Power BI Dashboard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773168" y="201168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3-tab navigation: Overview → Supply Chain → Quality &amp; Production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45152" y="2542032"/>
            <a:ext cx="4096512" cy="694944"/>
          </a:xfrm>
          <a:prstGeom prst="roundRect">
            <a:avLst>
              <a:gd name="adj" fmla="val 6579"/>
            </a:avLst>
          </a:prstGeom>
          <a:solidFill>
            <a:srgbClr val="1A3357"/>
          </a:solidFill>
          <a:ln/>
        </p:spPr>
      </p:sp>
      <p:sp>
        <p:nvSpPr>
          <p:cNvPr id="25" name="Text 23"/>
          <p:cNvSpPr/>
          <p:nvPr/>
        </p:nvSpPr>
        <p:spPr>
          <a:xfrm>
            <a:off x="4773168" y="259689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DAX-powered KPIs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773168" y="283464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Profit, Defect Rate, Lead Time — all auto-calculated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45152" y="3364992"/>
            <a:ext cx="4096512" cy="694944"/>
          </a:xfrm>
          <a:prstGeom prst="roundRect">
            <a:avLst>
              <a:gd name="adj" fmla="val 6579"/>
            </a:avLst>
          </a:prstGeom>
          <a:solidFill>
            <a:srgbClr val="1A3357"/>
          </a:solidFill>
          <a:ln/>
        </p:spPr>
      </p:sp>
      <p:sp>
        <p:nvSpPr>
          <p:cNvPr id="28" name="Text 26"/>
          <p:cNvSpPr/>
          <p:nvPr/>
        </p:nvSpPr>
        <p:spPr>
          <a:xfrm>
            <a:off x="4773168" y="34198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Supplier Risk Analysis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773168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rates + Lead times per supplier, cross-referenced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645152" y="4187952"/>
            <a:ext cx="4096512" cy="694944"/>
          </a:xfrm>
          <a:prstGeom prst="roundRect">
            <a:avLst>
              <a:gd name="adj" fmla="val 6579"/>
            </a:avLst>
          </a:prstGeom>
          <a:solidFill>
            <a:srgbClr val="1A3357"/>
          </a:solidFill>
          <a:ln/>
        </p:spPr>
      </p:sp>
      <p:sp>
        <p:nvSpPr>
          <p:cNvPr id="31" name="Text 29"/>
          <p:cNvSpPr/>
          <p:nvPr/>
        </p:nvSpPr>
        <p:spPr>
          <a:xfrm>
            <a:off x="4773168" y="424281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Logistics Optimization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773168" y="44805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&amp; carrier comparison by cost and efficiency metrics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914400"/>
            <a:ext cx="3200400" cy="3200400"/>
          </a:xfrm>
          <a:prstGeom prst="ellipse">
            <a:avLst/>
          </a:prstGeom>
          <a:solidFill>
            <a:srgbClr val="FFB703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Meet The Team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11480" y="786384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7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Egypt Pioneers Initiative  •  Team 2  •  Supervised by Eng. Maged Magdy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84048" y="1170432"/>
            <a:ext cx="1993392" cy="987552"/>
          </a:xfrm>
          <a:prstGeom prst="roundRect">
            <a:avLst>
              <a:gd name="adj" fmla="val 6481"/>
            </a:avLst>
          </a:prstGeom>
          <a:solidFill>
            <a:srgbClr val="1A3357"/>
          </a:solidFill>
          <a:ln/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06424" y="1243584"/>
            <a:ext cx="548640" cy="54864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1106424" y="12435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8912" y="1810512"/>
            <a:ext cx="1883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Nehal Al Sharkawy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10128" y="1170432"/>
            <a:ext cx="1993392" cy="987552"/>
          </a:xfrm>
          <a:prstGeom prst="roundRect">
            <a:avLst>
              <a:gd name="adj" fmla="val 6481"/>
            </a:avLst>
          </a:prstGeom>
          <a:solidFill>
            <a:srgbClr val="1A3357"/>
          </a:solidFill>
          <a:ln/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032504" y="1243584"/>
            <a:ext cx="548640" cy="548640"/>
          </a:xfrm>
          <a:prstGeom prst="ellipse">
            <a:avLst/>
          </a:prstGeom>
          <a:solidFill>
            <a:srgbClr val="FFB703"/>
          </a:solidFill>
          <a:ln/>
        </p:spPr>
      </p:sp>
      <p:sp>
        <p:nvSpPr>
          <p:cNvPr id="12" name="Text 10"/>
          <p:cNvSpPr/>
          <p:nvPr/>
        </p:nvSpPr>
        <p:spPr>
          <a:xfrm>
            <a:off x="4032504" y="12435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64992" y="1810512"/>
            <a:ext cx="1883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Salma Ashraf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236208" y="1170432"/>
            <a:ext cx="1993392" cy="987552"/>
          </a:xfrm>
          <a:prstGeom prst="roundRect">
            <a:avLst>
              <a:gd name="adj" fmla="val 6481"/>
            </a:avLst>
          </a:prstGeom>
          <a:solidFill>
            <a:srgbClr val="1A3357"/>
          </a:solidFill>
          <a:ln/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958584" y="1243584"/>
            <a:ext cx="548640" cy="548640"/>
          </a:xfrm>
          <a:prstGeom prst="ellipse">
            <a:avLst/>
          </a:prstGeom>
          <a:solidFill>
            <a:srgbClr val="06D6A0"/>
          </a:solidFill>
          <a:ln/>
        </p:spPr>
      </p:sp>
      <p:sp>
        <p:nvSpPr>
          <p:cNvPr id="17" name="Text 15"/>
          <p:cNvSpPr/>
          <p:nvPr/>
        </p:nvSpPr>
        <p:spPr>
          <a:xfrm>
            <a:off x="6958584" y="12435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91072" y="1810512"/>
            <a:ext cx="1883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Mohammed Ali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84048" y="2304288"/>
            <a:ext cx="1993392" cy="987552"/>
          </a:xfrm>
          <a:prstGeom prst="roundRect">
            <a:avLst>
              <a:gd name="adj" fmla="val 6481"/>
            </a:avLst>
          </a:prstGeom>
          <a:solidFill>
            <a:srgbClr val="1A3357"/>
          </a:solidFill>
          <a:ln/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106424" y="2377440"/>
            <a:ext cx="548640" cy="548640"/>
          </a:xfrm>
          <a:prstGeom prst="ellipse">
            <a:avLst/>
          </a:prstGeom>
          <a:solidFill>
            <a:srgbClr val="C77DFF"/>
          </a:solidFill>
          <a:ln/>
        </p:spPr>
      </p:sp>
      <p:sp>
        <p:nvSpPr>
          <p:cNvPr id="22" name="Text 20"/>
          <p:cNvSpPr/>
          <p:nvPr/>
        </p:nvSpPr>
        <p:spPr>
          <a:xfrm>
            <a:off x="1106424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38912" y="2944368"/>
            <a:ext cx="1883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Hadeer Al Saqa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310128" y="2304288"/>
            <a:ext cx="1993392" cy="987552"/>
          </a:xfrm>
          <a:prstGeom prst="roundRect">
            <a:avLst>
              <a:gd name="adj" fmla="val 6481"/>
            </a:avLst>
          </a:prstGeom>
          <a:solidFill>
            <a:srgbClr val="1A3357"/>
          </a:solidFill>
          <a:ln/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032504" y="2377440"/>
            <a:ext cx="548640" cy="548640"/>
          </a:xfrm>
          <a:prstGeom prst="ellipse">
            <a:avLst/>
          </a:prstGeom>
          <a:solidFill>
            <a:srgbClr val="FF9F1C"/>
          </a:solidFill>
          <a:ln/>
        </p:spPr>
      </p:sp>
      <p:sp>
        <p:nvSpPr>
          <p:cNvPr id="27" name="Text 25"/>
          <p:cNvSpPr/>
          <p:nvPr/>
        </p:nvSpPr>
        <p:spPr>
          <a:xfrm>
            <a:off x="4032504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364992" y="2944368"/>
            <a:ext cx="1883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 Ali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236208" y="2304288"/>
            <a:ext cx="1993392" cy="987552"/>
          </a:xfrm>
          <a:prstGeom prst="roundRect">
            <a:avLst>
              <a:gd name="adj" fmla="val 6481"/>
            </a:avLst>
          </a:prstGeom>
          <a:solidFill>
            <a:srgbClr val="1A3357"/>
          </a:solidFill>
          <a:ln/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958584" y="2377440"/>
            <a:ext cx="548640" cy="548640"/>
          </a:xfrm>
          <a:prstGeom prst="ellipse">
            <a:avLst/>
          </a:prstGeom>
          <a:solidFill>
            <a:srgbClr val="EF476F"/>
          </a:solidFill>
          <a:ln/>
        </p:spPr>
      </p:sp>
      <p:sp>
        <p:nvSpPr>
          <p:cNvPr id="32" name="Text 30"/>
          <p:cNvSpPr/>
          <p:nvPr/>
        </p:nvSpPr>
        <p:spPr>
          <a:xfrm>
            <a:off x="6958584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291072" y="2944368"/>
            <a:ext cx="1883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Hasnaa Amer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84048" y="3438144"/>
            <a:ext cx="8375904" cy="1389888"/>
          </a:xfrm>
          <a:prstGeom prst="roundRect">
            <a:avLst>
              <a:gd name="adj" fmla="val 5263"/>
            </a:avLst>
          </a:prstGeom>
          <a:solidFill>
            <a:srgbClr val="1A3357"/>
          </a:solidFill>
          <a:ln/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84048" y="3438144"/>
            <a:ext cx="8375904" cy="50292"/>
          </a:xfrm>
          <a:prstGeom prst="roundRect">
            <a:avLst>
              <a:gd name="adj" fmla="val 145455"/>
            </a:avLst>
          </a:prstGeom>
          <a:solidFill>
            <a:srgbClr val="FFB703"/>
          </a:solidFill>
          <a:ln/>
        </p:spPr>
      </p:sp>
      <p:sp>
        <p:nvSpPr>
          <p:cNvPr id="37" name="Shape 35"/>
          <p:cNvSpPr/>
          <p:nvPr/>
        </p:nvSpPr>
        <p:spPr>
          <a:xfrm>
            <a:off x="548640" y="3566160"/>
            <a:ext cx="822960" cy="822960"/>
          </a:xfrm>
          <a:prstGeom prst="ellipse">
            <a:avLst/>
          </a:prstGeom>
          <a:solidFill>
            <a:srgbClr val="FFB703"/>
          </a:solidFill>
          <a:ln/>
        </p:spPr>
      </p:sp>
      <p:sp>
        <p:nvSpPr>
          <p:cNvPr id="38" name="Text 36"/>
          <p:cNvSpPr/>
          <p:nvPr/>
        </p:nvSpPr>
        <p:spPr>
          <a:xfrm>
            <a:off x="548640" y="35661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1508760" y="356616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Maged Magdy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508760" y="389534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Supervisor &amp; Technical Advisor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508760" y="4160520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technical guidance, reviewed DAX logic, and assessed final dashboard quality.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Project Timeline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65760" y="76809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4-Week Agile Sprint  •  From raw data to live dashboard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60704" y="1517904"/>
            <a:ext cx="7022592" cy="54864"/>
          </a:xfrm>
          <a:prstGeom prst="rect">
            <a:avLst/>
          </a:prstGeom>
          <a:solidFill>
            <a:srgbClr val="5A7A9A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225296"/>
            <a:ext cx="2029968" cy="1664208"/>
          </a:xfrm>
          <a:prstGeom prst="roundRect">
            <a:avLst>
              <a:gd name="adj" fmla="val 3846"/>
            </a:avLst>
          </a:prstGeom>
          <a:solidFill>
            <a:srgbClr val="112240"/>
          </a:solidFill>
          <a:ln/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96696" y="1335024"/>
            <a:ext cx="585216" cy="585216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133502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1975104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65760" y="2212848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Preparation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84048" y="2487168"/>
            <a:ext cx="181051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 cleaning &amp; normalization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Handling missing values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CSV schema design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487168" y="1225296"/>
            <a:ext cx="2029968" cy="1664208"/>
          </a:xfrm>
          <a:prstGeom prst="roundRect">
            <a:avLst>
              <a:gd name="adj" fmla="val 3846"/>
            </a:avLst>
          </a:prstGeom>
          <a:solidFill>
            <a:srgbClr val="112240"/>
          </a:solidFill>
          <a:ln/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9544" y="1335024"/>
            <a:ext cx="585216" cy="585216"/>
          </a:xfrm>
          <a:prstGeom prst="ellipse">
            <a:avLst/>
          </a:prstGeom>
          <a:solidFill>
            <a:srgbClr val="FFB703"/>
          </a:solidFill>
          <a:ln/>
        </p:spPr>
      </p:sp>
      <p:sp>
        <p:nvSpPr>
          <p:cNvPr id="13" name="Text 11"/>
          <p:cNvSpPr/>
          <p:nvPr/>
        </p:nvSpPr>
        <p:spPr>
          <a:xfrm>
            <a:off x="3209544" y="133502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578608" y="1975104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578608" y="2212848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Analysis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596896" y="2487168"/>
            <a:ext cx="181051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Sales trend identification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Revenue driver analysis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Initial KPI definition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700016" y="1225296"/>
            <a:ext cx="2029968" cy="1664208"/>
          </a:xfrm>
          <a:prstGeom prst="roundRect">
            <a:avLst>
              <a:gd name="adj" fmla="val 3846"/>
            </a:avLst>
          </a:prstGeom>
          <a:solidFill>
            <a:srgbClr val="112240"/>
          </a:solidFill>
          <a:ln/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22392" y="1335024"/>
            <a:ext cx="585216" cy="585216"/>
          </a:xfrm>
          <a:prstGeom prst="ellipse">
            <a:avLst/>
          </a:prstGeom>
          <a:solidFill>
            <a:srgbClr val="06D6A0"/>
          </a:solidFill>
          <a:ln/>
        </p:spPr>
      </p:sp>
      <p:sp>
        <p:nvSpPr>
          <p:cNvPr id="19" name="Text 17"/>
          <p:cNvSpPr/>
          <p:nvPr/>
        </p:nvSpPr>
        <p:spPr>
          <a:xfrm>
            <a:off x="5422392" y="133502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791456" y="1975104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791456" y="2212848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487168"/>
            <a:ext cx="181051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Supplier performance audit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Logistics bottleneck analysis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DAX measure development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912864" y="1225296"/>
            <a:ext cx="2029968" cy="1664208"/>
          </a:xfrm>
          <a:prstGeom prst="roundRect">
            <a:avLst>
              <a:gd name="adj" fmla="val 3846"/>
            </a:avLst>
          </a:prstGeom>
          <a:solidFill>
            <a:srgbClr val="112240"/>
          </a:solidFill>
          <a:ln/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635240" y="1335024"/>
            <a:ext cx="585216" cy="585216"/>
          </a:xfrm>
          <a:prstGeom prst="ellipse">
            <a:avLst/>
          </a:prstGeom>
          <a:solidFill>
            <a:srgbClr val="EF476F"/>
          </a:solidFill>
          <a:ln/>
        </p:spPr>
      </p:sp>
      <p:sp>
        <p:nvSpPr>
          <p:cNvPr id="25" name="Text 23"/>
          <p:cNvSpPr/>
          <p:nvPr/>
        </p:nvSpPr>
        <p:spPr>
          <a:xfrm>
            <a:off x="7635240" y="133502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004304" y="1975104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004304" y="2212848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022592" y="2487168"/>
            <a:ext cx="181051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Dashboard deployment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UX testing &amp; iteration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Final documentation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090672"/>
            <a:ext cx="8412480" cy="1810512"/>
          </a:xfrm>
          <a:prstGeom prst="roundRect">
            <a:avLst>
              <a:gd name="adj" fmla="val 4040"/>
            </a:avLst>
          </a:prstGeom>
          <a:solidFill>
            <a:srgbClr val="112240"/>
          </a:solidFill>
          <a:ln/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94360" y="32004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Final Deliverables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02920" y="354787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Interactive Power BI Dashboard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37856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3-tab navigation with cross-filtering slicers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02920" y="415137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Full Project Documentation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2920" y="4389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Requirements, system design, DAX code &amp; test results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709160" y="354787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QA Testing Report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09160" y="37856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integrity, DAX accuracy &amp; geographic mapping verified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709160" y="415137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Strategic Recommendations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09160" y="4389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+12% profit growth | -5% defect target | +15% shipping speed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System Design &amp; Data Model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768096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architecture + DAX logic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4251960" cy="3749040"/>
          </a:xfrm>
          <a:prstGeom prst="roundRect">
            <a:avLst>
              <a:gd name="adj" fmla="val 1951"/>
            </a:avLst>
          </a:prstGeom>
          <a:solidFill>
            <a:srgbClr val="112240"/>
          </a:solidFill>
          <a:ln/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75488" y="120700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 Star Schema Architecture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463040" y="2304288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FFB703">
              <a:alpha val="8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463040" y="230428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TABLE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SupplyChain.csv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38912" y="1609344"/>
            <a:ext cx="1444752" cy="548640"/>
          </a:xfrm>
          <a:prstGeom prst="roundRect">
            <a:avLst>
              <a:gd name="adj" fmla="val 8333"/>
            </a:avLst>
          </a:prstGeom>
          <a:solidFill>
            <a:srgbClr val="1A3357"/>
          </a:solidFill>
          <a:ln/>
        </p:spPr>
      </p:sp>
      <p:sp>
        <p:nvSpPr>
          <p:cNvPr id="9" name="Text 7"/>
          <p:cNvSpPr/>
          <p:nvPr/>
        </p:nvSpPr>
        <p:spPr>
          <a:xfrm>
            <a:off x="438912" y="1609344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(SKUs)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743200" y="1609344"/>
            <a:ext cx="1444752" cy="548640"/>
          </a:xfrm>
          <a:prstGeom prst="roundRect">
            <a:avLst>
              <a:gd name="adj" fmla="val 8333"/>
            </a:avLst>
          </a:prstGeom>
          <a:solidFill>
            <a:srgbClr val="1A3357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0" y="1609344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 vendors)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38912" y="3511296"/>
            <a:ext cx="1444752" cy="548640"/>
          </a:xfrm>
          <a:prstGeom prst="roundRect">
            <a:avLst>
              <a:gd name="adj" fmla="val 8333"/>
            </a:avLst>
          </a:prstGeom>
          <a:solidFill>
            <a:srgbClr val="1A3357"/>
          </a:solidFill>
          <a:ln/>
        </p:spPr>
      </p:sp>
      <p:sp>
        <p:nvSpPr>
          <p:cNvPr id="13" name="Text 11"/>
          <p:cNvSpPr/>
          <p:nvPr/>
        </p:nvSpPr>
        <p:spPr>
          <a:xfrm>
            <a:off x="438912" y="3511296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 cities)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43200" y="3511296"/>
            <a:ext cx="1444752" cy="548640"/>
          </a:xfrm>
          <a:prstGeom prst="roundRect">
            <a:avLst>
              <a:gd name="adj" fmla="val 8333"/>
            </a:avLst>
          </a:prstGeom>
          <a:solidFill>
            <a:srgbClr val="1A3357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0" y="3511296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(A, B, C)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161288" y="1883664"/>
            <a:ext cx="347472" cy="603504"/>
          </a:xfrm>
          <a:prstGeom prst="line">
            <a:avLst/>
          </a:prstGeom>
          <a:noFill/>
          <a:ln w="12700">
            <a:solidFill>
              <a:srgbClr val="5A7A9A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551176" y="1883664"/>
            <a:ext cx="192024" cy="603504"/>
          </a:xfrm>
          <a:prstGeom prst="line">
            <a:avLst/>
          </a:prstGeom>
          <a:noFill/>
          <a:ln w="12700">
            <a:solidFill>
              <a:srgbClr val="5A7A9A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1161288" y="3328416"/>
            <a:ext cx="347472" cy="0"/>
          </a:xfrm>
          <a:prstGeom prst="line">
            <a:avLst/>
          </a:prstGeom>
          <a:noFill/>
          <a:ln w="12700">
            <a:solidFill>
              <a:srgbClr val="5A7A9A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551176" y="3328416"/>
            <a:ext cx="192024" cy="0"/>
          </a:xfrm>
          <a:prstGeom prst="line">
            <a:avLst/>
          </a:prstGeom>
          <a:noFill/>
          <a:ln w="12700">
            <a:solidFill>
              <a:srgbClr val="5A7A9A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75488" y="4334256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Key: SKU</a:t>
            </a: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Foreign: Product Type → Supplier → Location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773168" y="1115568"/>
            <a:ext cx="4059936" cy="3749040"/>
          </a:xfrm>
          <a:prstGeom prst="roundRect">
            <a:avLst>
              <a:gd name="adj" fmla="val 1951"/>
            </a:avLst>
          </a:prstGeom>
          <a:solidFill>
            <a:srgbClr val="112240"/>
          </a:solidFill>
          <a:ln/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919472" y="12070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Core DAX Measures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919472" y="1609344"/>
            <a:ext cx="3749040" cy="694944"/>
          </a:xfrm>
          <a:prstGeom prst="roundRect">
            <a:avLst>
              <a:gd name="adj" fmla="val 6579"/>
            </a:avLst>
          </a:prstGeom>
          <a:solidFill>
            <a:srgbClr val="1A3357"/>
          </a:solidFill>
          <a:ln/>
        </p:spPr>
      </p:sp>
      <p:sp>
        <p:nvSpPr>
          <p:cNvPr id="24" name="Text 22"/>
          <p:cNvSpPr/>
          <p:nvPr/>
        </p:nvSpPr>
        <p:spPr>
          <a:xfrm>
            <a:off x="5047488" y="166420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047488" y="1883664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8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SUM('SupplyChain'[Revenue_generated])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919472" y="2414016"/>
            <a:ext cx="3749040" cy="694944"/>
          </a:xfrm>
          <a:prstGeom prst="roundRect">
            <a:avLst>
              <a:gd name="adj" fmla="val 6579"/>
            </a:avLst>
          </a:prstGeom>
          <a:solidFill>
            <a:srgbClr val="1A3357"/>
          </a:solidFill>
          <a:ln/>
        </p:spPr>
      </p:sp>
      <p:sp>
        <p:nvSpPr>
          <p:cNvPr id="27" name="Text 25"/>
          <p:cNvSpPr/>
          <p:nvPr/>
        </p:nvSpPr>
        <p:spPr>
          <a:xfrm>
            <a:off x="5047488" y="246888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047488" y="268833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8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[Total Revenue]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B8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− (SUM([Mfg_costs]) + SUM([Shipping_costs]))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919472" y="3218688"/>
            <a:ext cx="3749040" cy="694944"/>
          </a:xfrm>
          <a:prstGeom prst="roundRect">
            <a:avLst>
              <a:gd name="adj" fmla="val 6579"/>
            </a:avLst>
          </a:prstGeom>
          <a:solidFill>
            <a:srgbClr val="1A3357"/>
          </a:solidFill>
          <a:ln/>
        </p:spPr>
      </p:sp>
      <p:sp>
        <p:nvSpPr>
          <p:cNvPr id="30" name="Text 28"/>
          <p:cNvSpPr/>
          <p:nvPr/>
        </p:nvSpPr>
        <p:spPr>
          <a:xfrm>
            <a:off x="5047488" y="327355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Defect Rate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047488" y="349300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8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AVERAGE('SupplyChain'[Defect_rates])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919472" y="4023360"/>
            <a:ext cx="3749040" cy="694944"/>
          </a:xfrm>
          <a:prstGeom prst="roundRect">
            <a:avLst>
              <a:gd name="adj" fmla="val 6579"/>
            </a:avLst>
          </a:prstGeom>
          <a:solidFill>
            <a:srgbClr val="1A3357"/>
          </a:solidFill>
          <a:ln/>
        </p:spPr>
      </p:sp>
      <p:sp>
        <p:nvSpPr>
          <p:cNvPr id="33" name="Text 31"/>
          <p:cNvSpPr/>
          <p:nvPr/>
        </p:nvSpPr>
        <p:spPr>
          <a:xfrm>
            <a:off x="5047488" y="407822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Lead Time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047488" y="429768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8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AVERAGE('SupplyChain'[Lead_time])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Documentation &amp; QA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65760" y="768096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ensured quality at every stage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4297680" cy="768096"/>
          </a:xfrm>
          <a:prstGeom prst="roundRect">
            <a:avLst>
              <a:gd name="adj" fmla="val 7143"/>
            </a:avLst>
          </a:prstGeom>
          <a:solidFill>
            <a:srgbClr val="112240"/>
          </a:solidFill>
          <a:ln/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243584"/>
            <a:ext cx="512064" cy="512064"/>
          </a:xfrm>
          <a:prstGeom prst="ellipse">
            <a:avLst/>
          </a:prstGeom>
          <a:solidFill>
            <a:srgbClr val="00B4D8">
              <a:alpha val="7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43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120700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Planning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97280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targets, 4-week timeline, stakeholder requirements for Ops, Finance &amp; Procurement teams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0040" y="2011680"/>
            <a:ext cx="4297680" cy="768096"/>
          </a:xfrm>
          <a:prstGeom prst="roundRect">
            <a:avLst>
              <a:gd name="adj" fmla="val 7143"/>
            </a:avLst>
          </a:prstGeom>
          <a:solidFill>
            <a:srgbClr val="112240"/>
          </a:solidFill>
          <a:ln/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139696"/>
            <a:ext cx="512064" cy="512064"/>
          </a:xfrm>
          <a:prstGeom prst="ellipse">
            <a:avLst/>
          </a:prstGeom>
          <a:solidFill>
            <a:srgbClr val="FFB703">
              <a:alpha val="7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🏗️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210312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97280" y="23591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ERD, UI/UX wireframes, 3-tier dashboard navigation prototype documented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0040" y="2907792"/>
            <a:ext cx="4297680" cy="768096"/>
          </a:xfrm>
          <a:prstGeom prst="roundRect">
            <a:avLst>
              <a:gd name="adj" fmla="val 7143"/>
            </a:avLst>
          </a:prstGeom>
          <a:solidFill>
            <a:srgbClr val="112240"/>
          </a:solidFill>
          <a:ln/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35808"/>
            <a:ext cx="512064" cy="512064"/>
          </a:xfrm>
          <a:prstGeom prst="ellipse">
            <a:avLst/>
          </a:prstGeom>
          <a:solidFill>
            <a:srgbClr val="06D6A0">
              <a:alpha val="75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035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⚙️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97280" y="299923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97280" y="325526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DAX source code versioned on GitHub with inline comments and measure descriptions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0040" y="3803904"/>
            <a:ext cx="4297680" cy="768096"/>
          </a:xfrm>
          <a:prstGeom prst="roundRect">
            <a:avLst>
              <a:gd name="adj" fmla="val 7143"/>
            </a:avLst>
          </a:prstGeom>
          <a:solidFill>
            <a:srgbClr val="112240"/>
          </a:solidFill>
          <a:ln/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931920"/>
            <a:ext cx="512064" cy="512064"/>
          </a:xfrm>
          <a:prstGeom prst="ellipse">
            <a:avLst/>
          </a:prstGeom>
          <a:solidFill>
            <a:srgbClr val="C77DFF">
              <a:alpha val="7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9319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📦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97280" y="389534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Manual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97280" y="415137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Slicer usage guide, cross-filter behavior, drill-through instructions for end users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800600" y="1115568"/>
            <a:ext cx="4023360" cy="1883664"/>
          </a:xfrm>
          <a:prstGeom prst="roundRect">
            <a:avLst>
              <a:gd name="adj" fmla="val 3883"/>
            </a:avLst>
          </a:prstGeom>
          <a:solidFill>
            <a:srgbClr val="112240"/>
          </a:solidFill>
          <a:ln/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956048" y="12070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Test Results — All Passed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956048" y="1645920"/>
            <a:ext cx="274320" cy="274320"/>
          </a:xfrm>
          <a:prstGeom prst="ellipse">
            <a:avLst/>
          </a:prstGeom>
          <a:solidFill>
            <a:srgbClr val="06D6A0"/>
          </a:solidFill>
          <a:ln/>
        </p:spPr>
      </p:sp>
      <p:sp>
        <p:nvSpPr>
          <p:cNvPr id="27" name="Text 25"/>
          <p:cNvSpPr/>
          <p:nvPr/>
        </p:nvSpPr>
        <p:spPr>
          <a:xfrm>
            <a:off x="4956048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321808" y="16459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803136" y="1645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Cross-verified with Excel Pivot Tables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956048" y="2048256"/>
            <a:ext cx="274320" cy="274320"/>
          </a:xfrm>
          <a:prstGeom prst="ellipse">
            <a:avLst/>
          </a:prstGeom>
          <a:solidFill>
            <a:srgbClr val="06D6A0"/>
          </a:solidFill>
          <a:ln/>
        </p:spPr>
      </p:sp>
      <p:sp>
        <p:nvSpPr>
          <p:cNvPr id="31" name="Text 29"/>
          <p:cNvSpPr/>
          <p:nvPr/>
        </p:nvSpPr>
        <p:spPr>
          <a:xfrm>
            <a:off x="4956048" y="20482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321808" y="20482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Accuracy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03136" y="20482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Net Profit vs. DAX output match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956048" y="2450592"/>
            <a:ext cx="274320" cy="274320"/>
          </a:xfrm>
          <a:prstGeom prst="ellipse">
            <a:avLst/>
          </a:prstGeom>
          <a:solidFill>
            <a:srgbClr val="06D6A0"/>
          </a:solidFill>
          <a:ln/>
        </p:spPr>
      </p:sp>
      <p:sp>
        <p:nvSpPr>
          <p:cNvPr id="35" name="Text 33"/>
          <p:cNvSpPr/>
          <p:nvPr/>
        </p:nvSpPr>
        <p:spPr>
          <a:xfrm>
            <a:off x="4956048" y="2450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321808" y="24505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Navigation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803136" y="2450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buttons, page triggers &amp; slicers tested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956048" y="2852928"/>
            <a:ext cx="274320" cy="274320"/>
          </a:xfrm>
          <a:prstGeom prst="ellipse">
            <a:avLst/>
          </a:prstGeom>
          <a:solidFill>
            <a:srgbClr val="06D6A0"/>
          </a:solidFill>
          <a:ln/>
        </p:spPr>
      </p:sp>
      <p:sp>
        <p:nvSpPr>
          <p:cNvPr id="39" name="Text 37"/>
          <p:cNvSpPr/>
          <p:nvPr/>
        </p:nvSpPr>
        <p:spPr>
          <a:xfrm>
            <a:off x="4956048" y="2852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321808" y="285292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Mapping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03136" y="28529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coordinates mapped to correct locations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00600" y="3145536"/>
            <a:ext cx="4023360" cy="1682496"/>
          </a:xfrm>
          <a:prstGeom prst="roundRect">
            <a:avLst>
              <a:gd name="adj" fmla="val 4348"/>
            </a:avLst>
          </a:prstGeom>
          <a:solidFill>
            <a:srgbClr val="112240"/>
          </a:solidFill>
          <a:ln/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956048" y="32552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KPI Targets Defined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956048" y="3621024"/>
            <a:ext cx="566928" cy="237744"/>
          </a:xfrm>
          <a:prstGeom prst="roundRect">
            <a:avLst>
              <a:gd name="adj" fmla="val 15385"/>
            </a:avLst>
          </a:prstGeom>
          <a:solidFill>
            <a:srgbClr val="00B4D8">
              <a:alpha val="70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4956048" y="3621024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577840" y="363931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20% revenue drivers identified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956048" y="4023360"/>
            <a:ext cx="566928" cy="237744"/>
          </a:xfrm>
          <a:prstGeom prst="roundRect">
            <a:avLst>
              <a:gd name="adj" fmla="val 15385"/>
            </a:avLst>
          </a:prstGeom>
          <a:solidFill>
            <a:srgbClr val="FFB703">
              <a:alpha val="70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4956048" y="402336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5577840" y="404164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cost-effective route identified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956048" y="4425696"/>
            <a:ext cx="566928" cy="237744"/>
          </a:xfrm>
          <a:prstGeom prst="roundRect">
            <a:avLst>
              <a:gd name="adj" fmla="val 15385"/>
            </a:avLst>
          </a:prstGeom>
          <a:solidFill>
            <a:srgbClr val="06D6A0">
              <a:alpha val="70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4956048" y="4425696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577840" y="444398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rate maintained below 3%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2286000"/>
            <a:ext cx="3657600" cy="3657600"/>
          </a:xfrm>
          <a:prstGeom prst="ellipse">
            <a:avLst/>
          </a:prstGeom>
          <a:solidFill>
            <a:srgbClr val="06D6A0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Outcomes &amp; Recommendations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told us — and what to do next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042416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1A3357"/>
          </a:solidFill>
          <a:ln/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42416"/>
            <a:ext cx="2724912" cy="54864"/>
          </a:xfrm>
          <a:prstGeom prst="roundRect">
            <a:avLst>
              <a:gd name="adj" fmla="val 116667"/>
            </a:avLst>
          </a:prstGeom>
          <a:solidFill>
            <a:srgbClr val="06D6A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33856"/>
            <a:ext cx="2724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+12%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20040" y="1722730"/>
            <a:ext cx="2724912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Growth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Forecasted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27832" y="1042416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1A3357"/>
          </a:solidFill>
          <a:ln/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27832" y="1042416"/>
            <a:ext cx="2724912" cy="54864"/>
          </a:xfrm>
          <a:prstGeom prst="roundRect">
            <a:avLst>
              <a:gd name="adj" fmla="val 116667"/>
            </a:avLst>
          </a:prstGeom>
          <a:solidFill>
            <a:srgbClr val="EF476F"/>
          </a:solidFill>
          <a:ln/>
        </p:spPr>
      </p:sp>
      <p:sp>
        <p:nvSpPr>
          <p:cNvPr id="11" name="Text 9"/>
          <p:cNvSpPr/>
          <p:nvPr/>
        </p:nvSpPr>
        <p:spPr>
          <a:xfrm>
            <a:off x="3227832" y="1133856"/>
            <a:ext cx="2724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−5%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227832" y="1722730"/>
            <a:ext cx="2724912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Rate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Target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35624" y="1042416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1A3357"/>
          </a:solidFill>
          <a:ln/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35624" y="1042416"/>
            <a:ext cx="2724912" cy="54864"/>
          </a:xfrm>
          <a:prstGeom prst="roundRect">
            <a:avLst>
              <a:gd name="adj" fmla="val 116667"/>
            </a:avLst>
          </a:prstGeom>
          <a:solidFill>
            <a:srgbClr val="00B4D8"/>
          </a:solidFill>
          <a:ln/>
        </p:spPr>
      </p:sp>
      <p:sp>
        <p:nvSpPr>
          <p:cNvPr id="15" name="Text 13"/>
          <p:cNvSpPr/>
          <p:nvPr/>
        </p:nvSpPr>
        <p:spPr>
          <a:xfrm>
            <a:off x="6135624" y="1133856"/>
            <a:ext cx="2724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+15%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135624" y="1722730"/>
            <a:ext cx="2724912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Speed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340864"/>
            <a:ext cx="2788920" cy="987552"/>
          </a:xfrm>
          <a:prstGeom prst="roundRect">
            <a:avLst>
              <a:gd name="adj" fmla="val 6481"/>
            </a:avLst>
          </a:prstGeom>
          <a:solidFill>
            <a:srgbClr val="112240"/>
          </a:solidFill>
          <a:ln/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340864"/>
            <a:ext cx="2788920" cy="50292"/>
          </a:xfrm>
          <a:prstGeom prst="roundRect">
            <a:avLst>
              <a:gd name="adj" fmla="val 127273"/>
            </a:avLst>
          </a:prstGeom>
          <a:solidFill>
            <a:srgbClr val="00B4D8"/>
          </a:solidFill>
          <a:ln/>
        </p:spPr>
      </p:sp>
      <p:sp>
        <p:nvSpPr>
          <p:cNvPr id="19" name="Text 17"/>
          <p:cNvSpPr/>
          <p:nvPr/>
        </p:nvSpPr>
        <p:spPr>
          <a:xfrm>
            <a:off x="448056" y="2432304"/>
            <a:ext cx="2551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🏭 Prioritize Supplier1 for Skincare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48056" y="2706624"/>
            <a:ext cx="2551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Supplier1 generates $96.7K in Skincare — highest contributor. Lock in longer contracts and increase order share.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255264" y="2340864"/>
            <a:ext cx="2788920" cy="987552"/>
          </a:xfrm>
          <a:prstGeom prst="roundRect">
            <a:avLst>
              <a:gd name="adj" fmla="val 6481"/>
            </a:avLst>
          </a:prstGeom>
          <a:solidFill>
            <a:srgbClr val="112240"/>
          </a:solidFill>
          <a:ln/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55264" y="2340864"/>
            <a:ext cx="2788920" cy="50292"/>
          </a:xfrm>
          <a:prstGeom prst="roundRect">
            <a:avLst>
              <a:gd name="adj" fmla="val 127273"/>
            </a:avLst>
          </a:prstGeom>
          <a:solidFill>
            <a:srgbClr val="EF476F"/>
          </a:solidFill>
          <a:ln/>
        </p:spPr>
      </p:sp>
      <p:sp>
        <p:nvSpPr>
          <p:cNvPr id="23" name="Text 21"/>
          <p:cNvSpPr/>
          <p:nvPr/>
        </p:nvSpPr>
        <p:spPr>
          <a:xfrm>
            <a:off x="3383280" y="2432304"/>
            <a:ext cx="2551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Review Supplier5 Quality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83280" y="2706624"/>
            <a:ext cx="2551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defect rate at 2.67%. Require corrective action plan and monitor monthly before next procurement cycle.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190488" y="2340864"/>
            <a:ext cx="2788920" cy="987552"/>
          </a:xfrm>
          <a:prstGeom prst="roundRect">
            <a:avLst>
              <a:gd name="adj" fmla="val 6481"/>
            </a:avLst>
          </a:prstGeom>
          <a:solidFill>
            <a:srgbClr val="112240"/>
          </a:solidFill>
          <a:ln/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90488" y="2340864"/>
            <a:ext cx="2788920" cy="50292"/>
          </a:xfrm>
          <a:prstGeom prst="roundRect">
            <a:avLst>
              <a:gd name="adj" fmla="val 127273"/>
            </a:avLst>
          </a:prstGeom>
          <a:solidFill>
            <a:srgbClr val="FFB703"/>
          </a:solidFill>
          <a:ln/>
        </p:spPr>
      </p:sp>
      <p:sp>
        <p:nvSpPr>
          <p:cNvPr id="27" name="Text 25"/>
          <p:cNvSpPr/>
          <p:nvPr/>
        </p:nvSpPr>
        <p:spPr>
          <a:xfrm>
            <a:off x="6318504" y="2432304"/>
            <a:ext cx="2551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🚛 Shift Volume to Carrier B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318504" y="2706624"/>
            <a:ext cx="2551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B is fastest (5.3 days) and cheapest ($5.5). Negotiate preferential rates and increase allocation.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20040" y="3456432"/>
            <a:ext cx="2788920" cy="987552"/>
          </a:xfrm>
          <a:prstGeom prst="roundRect">
            <a:avLst>
              <a:gd name="adj" fmla="val 6481"/>
            </a:avLst>
          </a:prstGeom>
          <a:solidFill>
            <a:srgbClr val="112240"/>
          </a:solidFill>
          <a:ln/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0040" y="3456432"/>
            <a:ext cx="2788920" cy="50292"/>
          </a:xfrm>
          <a:prstGeom prst="roundRect">
            <a:avLst>
              <a:gd name="adj" fmla="val 127273"/>
            </a:avLst>
          </a:prstGeom>
          <a:solidFill>
            <a:srgbClr val="06D6A0"/>
          </a:solidFill>
          <a:ln/>
        </p:spPr>
      </p:sp>
      <p:sp>
        <p:nvSpPr>
          <p:cNvPr id="31" name="Text 29"/>
          <p:cNvSpPr/>
          <p:nvPr/>
        </p:nvSpPr>
        <p:spPr>
          <a:xfrm>
            <a:off x="448056" y="3547872"/>
            <a:ext cx="2551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🛤️ Expand Route C Capacity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8056" y="3822192"/>
            <a:ext cx="2551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C at $118 is 49% cheaper than Route A. Pilot increased volumes to test capacity limits before scaling.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55264" y="3456432"/>
            <a:ext cx="2788920" cy="987552"/>
          </a:xfrm>
          <a:prstGeom prst="roundRect">
            <a:avLst>
              <a:gd name="adj" fmla="val 6481"/>
            </a:avLst>
          </a:prstGeom>
          <a:solidFill>
            <a:srgbClr val="112240"/>
          </a:solidFill>
          <a:ln/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55264" y="3456432"/>
            <a:ext cx="2788920" cy="50292"/>
          </a:xfrm>
          <a:prstGeom prst="roundRect">
            <a:avLst>
              <a:gd name="adj" fmla="val 127273"/>
            </a:avLst>
          </a:prstGeom>
          <a:solidFill>
            <a:srgbClr val="C77DFF"/>
          </a:solidFill>
          <a:ln/>
        </p:spPr>
      </p:sp>
      <p:sp>
        <p:nvSpPr>
          <p:cNvPr id="35" name="Text 33"/>
          <p:cNvSpPr/>
          <p:nvPr/>
        </p:nvSpPr>
        <p:spPr>
          <a:xfrm>
            <a:off x="3383280" y="3547872"/>
            <a:ext cx="2551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🚂 Reduce Rail Dependency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383280" y="3822192"/>
            <a:ext cx="2551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 = 31% of shipping cost despite not being fastest. Reallocate at least 15% to Road or Sea transport modes.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190488" y="3456432"/>
            <a:ext cx="2788920" cy="987552"/>
          </a:xfrm>
          <a:prstGeom prst="roundRect">
            <a:avLst>
              <a:gd name="adj" fmla="val 6481"/>
            </a:avLst>
          </a:prstGeom>
          <a:solidFill>
            <a:srgbClr val="112240"/>
          </a:solidFill>
          <a:ln/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190488" y="3456432"/>
            <a:ext cx="2788920" cy="50292"/>
          </a:xfrm>
          <a:prstGeom prst="roundRect">
            <a:avLst>
              <a:gd name="adj" fmla="val 127273"/>
            </a:avLst>
          </a:prstGeom>
          <a:solidFill>
            <a:srgbClr val="FF9F1C"/>
          </a:solidFill>
          <a:ln/>
        </p:spPr>
      </p:sp>
      <p:sp>
        <p:nvSpPr>
          <p:cNvPr id="39" name="Text 37"/>
          <p:cNvSpPr/>
          <p:nvPr/>
        </p:nvSpPr>
        <p:spPr>
          <a:xfrm>
            <a:off x="6318504" y="3547872"/>
            <a:ext cx="2551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Address 36% Inspection Fail Rate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318504" y="3822192"/>
            <a:ext cx="2551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a third of SKUs fail inspection. Root-cause analysis by supplier is critical before Q3 procurement.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20040" y="4681728"/>
            <a:ext cx="8503920" cy="347472"/>
          </a:xfrm>
          <a:prstGeom prst="roundRect">
            <a:avLst>
              <a:gd name="adj" fmla="val 15789"/>
            </a:avLst>
          </a:prstGeom>
          <a:solidFill>
            <a:srgbClr val="1A3357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68172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GitHub: github.com/nehalshark/DEPI-Team2-Supply-Chain-DataAnalysis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C9B1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320040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400" dirty="0">
                <a:solidFill>
                  <a:srgbClr val="00C9B1"/>
                </a:solidFill>
              </a:rPr>
              <a:t>SUPPLY CHAIN ANALYTICS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" y="77724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</a:rPr>
              <a:t>Data Cleaning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320040" y="1691640"/>
            <a:ext cx="8503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i="1" dirty="0">
                <a:solidFill>
                  <a:srgbClr val="00C9B1"/>
                </a:solidFill>
              </a:rPr>
              <a:t>Data Cleaning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2423160"/>
            <a:ext cx="4114800" cy="41148"/>
          </a:xfrm>
          <a:prstGeom prst="rect">
            <a:avLst/>
          </a:prstGeom>
          <a:solidFill>
            <a:srgbClr val="00C9B1">
              <a:alpha val="6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2606040"/>
            <a:ext cx="8503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B0C4DE"/>
                </a:solidFill>
              </a:rPr>
              <a:t>Step-by-step guide to cleaning supply chain data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B0C4DE"/>
                </a:solidFill>
              </a:rPr>
              <a:t>with practical Python examples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0040" y="3749040"/>
            <a:ext cx="2011680" cy="1005840"/>
          </a:xfrm>
          <a:prstGeom prst="rect">
            <a:avLst/>
          </a:prstGeom>
          <a:solidFill>
            <a:srgbClr val="1A4F8A">
              <a:alpha val="70000"/>
            </a:srgbClr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3749040"/>
            <a:ext cx="2011680" cy="54864"/>
          </a:xfrm>
          <a:prstGeom prst="rect">
            <a:avLst/>
          </a:prstGeom>
          <a:solidFill>
            <a:srgbClr val="00C9B1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382219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9B1"/>
                </a:solidFill>
              </a:rPr>
              <a:t>01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11480" y="4133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Load Data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44074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Load Data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496312" y="3749040"/>
            <a:ext cx="2011680" cy="1005840"/>
          </a:xfrm>
          <a:prstGeom prst="rect">
            <a:avLst/>
          </a:prstGeom>
          <a:solidFill>
            <a:srgbClr val="1A4F8A">
              <a:alpha val="70000"/>
            </a:srgbClr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96312" y="3749040"/>
            <a:ext cx="2011680" cy="54864"/>
          </a:xfrm>
          <a:prstGeom prst="rect">
            <a:avLst/>
          </a:prstGeom>
          <a:solidFill>
            <a:srgbClr val="00C9B1"/>
          </a:solidFill>
          <a:ln/>
        </p:spPr>
      </p:sp>
      <p:sp>
        <p:nvSpPr>
          <p:cNvPr id="15" name="Text 13"/>
          <p:cNvSpPr/>
          <p:nvPr/>
        </p:nvSpPr>
        <p:spPr>
          <a:xfrm>
            <a:off x="2587752" y="382219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9B1"/>
                </a:solidFill>
              </a:rPr>
              <a:t>02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587752" y="4133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Inspect Data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587752" y="44074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Inspect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72584" y="3749040"/>
            <a:ext cx="2011680" cy="1005840"/>
          </a:xfrm>
          <a:prstGeom prst="rect">
            <a:avLst/>
          </a:prstGeom>
          <a:solidFill>
            <a:srgbClr val="1A4F8A">
              <a:alpha val="70000"/>
            </a:srgbClr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72584" y="3749040"/>
            <a:ext cx="2011680" cy="54864"/>
          </a:xfrm>
          <a:prstGeom prst="rect">
            <a:avLst/>
          </a:prstGeom>
          <a:solidFill>
            <a:srgbClr val="00C9B1"/>
          </a:solidFill>
          <a:ln/>
        </p:spPr>
      </p:sp>
      <p:sp>
        <p:nvSpPr>
          <p:cNvPr id="20" name="Text 18"/>
          <p:cNvSpPr/>
          <p:nvPr/>
        </p:nvSpPr>
        <p:spPr>
          <a:xfrm>
            <a:off x="4764024" y="382219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9B1"/>
                </a:solidFill>
              </a:rPr>
              <a:t>03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764024" y="4133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Clean Data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64024" y="44074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Clean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848856" y="3749040"/>
            <a:ext cx="2011680" cy="1005840"/>
          </a:xfrm>
          <a:prstGeom prst="rect">
            <a:avLst/>
          </a:prstGeom>
          <a:solidFill>
            <a:srgbClr val="1A4F8A">
              <a:alpha val="70000"/>
            </a:srgbClr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848856" y="3749040"/>
            <a:ext cx="2011680" cy="54864"/>
          </a:xfrm>
          <a:prstGeom prst="rect">
            <a:avLst/>
          </a:prstGeom>
          <a:solidFill>
            <a:srgbClr val="00C9B1"/>
          </a:solidFill>
          <a:ln/>
        </p:spPr>
      </p:sp>
      <p:sp>
        <p:nvSpPr>
          <p:cNvPr id="25" name="Text 23"/>
          <p:cNvSpPr/>
          <p:nvPr/>
        </p:nvSpPr>
        <p:spPr>
          <a:xfrm>
            <a:off x="6940296" y="382219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9B1"/>
                </a:solidFill>
              </a:rPr>
              <a:t>04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940296" y="4133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Validate &amp; Save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940296" y="44074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Validate &amp; Save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4F8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41148"/>
          </a:xfrm>
          <a:prstGeom prst="rect">
            <a:avLst/>
          </a:prstGeom>
          <a:solidFill>
            <a:srgbClr val="00C9B1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01 &amp; 02  |  Load &amp; Inspect Data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28600" y="886968"/>
            <a:ext cx="347472" cy="347472"/>
          </a:xfrm>
          <a:prstGeom prst="ellipse">
            <a:avLst/>
          </a:prstGeom>
          <a:solidFill>
            <a:srgbClr val="00C9B1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87782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B2D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58368" y="84124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4F8A"/>
                </a:solidFill>
              </a:rPr>
              <a:t>Import Libraries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1430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We import pandas for data processing and os for handling file paths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911096"/>
            <a:ext cx="347472" cy="347472"/>
          </a:xfrm>
          <a:prstGeom prst="ellipse">
            <a:avLst/>
          </a:prstGeom>
          <a:solidFill>
            <a:srgbClr val="00C9B1"/>
          </a:solidFill>
          <a:ln/>
        </p:spPr>
      </p:sp>
      <p:sp>
        <p:nvSpPr>
          <p:cNvPr id="10" name="Text 8"/>
          <p:cNvSpPr/>
          <p:nvPr/>
        </p:nvSpPr>
        <p:spPr>
          <a:xfrm>
            <a:off x="228600" y="190195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B2D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8368" y="186537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4F8A"/>
                </a:solidFill>
              </a:rPr>
              <a:t>Set Path &amp; Read File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216712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We verify the file exists before reading to avoid errors, then load it with pd.read_csv()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2935224"/>
            <a:ext cx="347472" cy="347472"/>
          </a:xfrm>
          <a:prstGeom prst="ellipse">
            <a:avLst/>
          </a:prstGeom>
          <a:solidFill>
            <a:srgbClr val="00C9B1"/>
          </a:solidFill>
          <a:ln/>
        </p:spPr>
      </p:sp>
      <p:sp>
        <p:nvSpPr>
          <p:cNvPr id="14" name="Text 12"/>
          <p:cNvSpPr/>
          <p:nvPr/>
        </p:nvSpPr>
        <p:spPr>
          <a:xfrm>
            <a:off x="228600" y="29260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B2D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" y="28895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4F8A"/>
                </a:solidFill>
              </a:rPr>
              <a:t>First Look at the Data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3191256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df.head() shows the first 5 rows — df.shape tells us the number of rows and columns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3959352"/>
            <a:ext cx="347472" cy="347472"/>
          </a:xfrm>
          <a:prstGeom prst="ellipse">
            <a:avLst/>
          </a:prstGeom>
          <a:solidFill>
            <a:srgbClr val="00C9B1"/>
          </a:solidFill>
          <a:ln/>
        </p:spPr>
      </p:sp>
      <p:sp>
        <p:nvSpPr>
          <p:cNvPr id="18" name="Text 16"/>
          <p:cNvSpPr/>
          <p:nvPr/>
        </p:nvSpPr>
        <p:spPr>
          <a:xfrm>
            <a:off x="228600" y="395020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B2D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" y="39136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4F8A"/>
                </a:solidFill>
              </a:rPr>
              <a:t>Data Types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" y="4215384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df.dtypes reveals if date columns are read as text (object) and need conversion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63440" y="804672"/>
            <a:ext cx="4251960" cy="406908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804672"/>
            <a:ext cx="4251960" cy="292608"/>
          </a:xfrm>
          <a:prstGeom prst="rect">
            <a:avLst/>
          </a:prstGeom>
          <a:solidFill>
            <a:srgbClr val="162032"/>
          </a:solidFill>
          <a:ln/>
        </p:spPr>
      </p:sp>
      <p:sp>
        <p:nvSpPr>
          <p:cNvPr id="23" name="Text 21"/>
          <p:cNvSpPr/>
          <p:nvPr/>
        </p:nvSpPr>
        <p:spPr>
          <a:xfrm>
            <a:off x="4754880" y="804672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🐍  data_cleaning.py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36592" y="1133856"/>
            <a:ext cx="4114800" cy="3657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8A9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pandas </a:t>
            </a:r>
            <a:r>
              <a:rPr lang="en-US" sz="1000" dirty="0">
                <a:solidFill>
                  <a:srgbClr val="F8A9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8A9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Set file path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file_path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0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'supply_chain_data.csv'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8A9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os.path.exists(file_path):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 = pd.read_csv(file_path)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Inspect the data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(df.head())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(df.shape)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(df.dtypes)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8A9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('File not found!')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411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9144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</a:rPr>
              <a:t>03  |  Cleaning: Missing Values &amp; Duplicates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228600" y="804672"/>
            <a:ext cx="420624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804672"/>
            <a:ext cx="64008" cy="17830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384048" y="85039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4F8A"/>
                </a:solidFill>
              </a:rPr>
              <a:t>Missing Values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84048" y="1207008"/>
            <a:ext cx="3977640" cy="1325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9B1"/>
                </a:solidFill>
              </a:rPr>
              <a:t>df.isnull().sum()</a:t>
            </a:r>
            <a:r>
              <a:rPr lang="en-US" sz="1050" dirty="0">
                <a:solidFill>
                  <a:srgbClr val="1E293B"/>
                </a:solidFill>
              </a:rPr>
              <a:t> → reveals empty values in each column
</a:t>
            </a:r>
            <a:r>
              <a:rPr lang="en-US" sz="1050" b="1" dirty="0">
                <a:solidFill>
                  <a:srgbClr val="00C9B1"/>
                </a:solidFill>
              </a:rPr>
              <a:t>fillna()</a:t>
            </a:r>
            <a:r>
              <a:rPr lang="en-US" sz="1050" dirty="0">
                <a:solidFill>
                  <a:srgbClr val="1E293B"/>
                </a:solidFill>
              </a:rPr>
              <a:t> → fills gaps with a specified value (zero, mean...)
</a:t>
            </a:r>
            <a:r>
              <a:rPr lang="en-US" sz="1050" b="1" dirty="0">
                <a:solidFill>
                  <a:srgbClr val="EF4444"/>
                </a:solidFill>
              </a:rPr>
              <a:t>dropna()</a:t>
            </a:r>
            <a:r>
              <a:rPr lang="en-US" sz="1050" dirty="0">
                <a:solidFill>
                  <a:srgbClr val="1E293B"/>
                </a:solidFill>
              </a:rPr>
              <a:t> → removes rows that contain empty values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9160" y="804672"/>
            <a:ext cx="420624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804672"/>
            <a:ext cx="64008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4864608" y="85039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4F8A"/>
                </a:solidFill>
              </a:rPr>
              <a:t>Duplicate Rows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864608" y="1207008"/>
            <a:ext cx="3977640" cy="1325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9B1"/>
                </a:solidFill>
              </a:rPr>
              <a:t>df.duplicated().sum()</a:t>
            </a:r>
            <a:r>
              <a:rPr lang="en-US" sz="1050" dirty="0">
                <a:solidFill>
                  <a:srgbClr val="1E293B"/>
                </a:solidFill>
              </a:rPr>
              <a:t> → count of duplicate rows
</a:t>
            </a:r>
            <a:r>
              <a:rPr lang="en-US" sz="1050" b="1" dirty="0">
                <a:solidFill>
                  <a:srgbClr val="00C9B1"/>
                </a:solidFill>
              </a:rPr>
              <a:t>drop_duplicates()</a:t>
            </a:r>
            <a:r>
              <a:rPr lang="en-US" sz="1050" dirty="0">
                <a:solidFill>
                  <a:srgbClr val="1E293B"/>
                </a:solidFill>
              </a:rPr>
              <a:t> → automatically removes duplicate rows
</a:t>
            </a:r>
            <a:r>
              <a:rPr lang="en-US" sz="1050" b="1" dirty="0">
                <a:solidFill>
                  <a:srgbClr val="F59E0B"/>
                </a:solidFill>
              </a:rPr>
              <a:t>inplace=True</a:t>
            </a:r>
            <a:r>
              <a:rPr lang="en-US" sz="1050" dirty="0">
                <a:solidFill>
                  <a:srgbClr val="1E293B"/>
                </a:solidFill>
              </a:rPr>
              <a:t> → modifies the DataFrame directly in place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2715768"/>
            <a:ext cx="8686800" cy="2221992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2715768"/>
            <a:ext cx="8686800" cy="274320"/>
          </a:xfrm>
          <a:prstGeom prst="rect">
            <a:avLst/>
          </a:prstGeom>
          <a:solidFill>
            <a:srgbClr val="162032"/>
          </a:solidFill>
          <a:ln/>
        </p:spPr>
      </p:sp>
      <p:sp>
        <p:nvSpPr>
          <p:cNvPr id="15" name="Text 13"/>
          <p:cNvSpPr/>
          <p:nvPr/>
        </p:nvSpPr>
        <p:spPr>
          <a:xfrm>
            <a:off x="347472" y="27157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🐍  data_cleaning.py  —  Step 03: Clean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" y="3017520"/>
            <a:ext cx="8503920" cy="1874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── Show missing values ─────────────────────────────────
</a:t>
            </a:r>
            <a:r>
              <a:rPr lang="en-US" sz="9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(df.isnull().sum())
</a:t>
            </a: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── Handle missing numeric values ──────────────────────
</a:t>
            </a:r>
            <a:r>
              <a:rPr lang="en-US" sz="9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num_cols</a:t>
            </a: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[</a:t>
            </a: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'Revenue generated'</a:t>
            </a: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'Manufacturing costs'</a:t>
            </a: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'Shipping costs'</a:t>
            </a: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df[num_cols] = df[num_cols].fillna(df[num_cols].mean())
</a:t>
            </a: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── Handle missing text values ────────────────────────
</a:t>
            </a: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</a:t>
            </a: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'Supplier name'</a:t>
            </a: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].fillna(</a:t>
            </a: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'Unknown'</a:t>
            </a: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inplace=</a:t>
            </a:r>
            <a:r>
              <a:rPr lang="en-US" sz="9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── Remove duplicate rows ─────────────────────────────────
</a:t>
            </a: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df.drop_duplicates(inplace=</a:t>
            </a:r>
            <a:r>
              <a:rPr lang="en-US" sz="9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E3D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41148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9144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</a:rPr>
              <a:t>04  |  Fix Types, Standardize &amp; Validate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201168" y="804672"/>
            <a:ext cx="27889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01168" y="804672"/>
            <a:ext cx="2788920" cy="64008"/>
          </a:xfrm>
          <a:prstGeom prst="rect">
            <a:avLst/>
          </a:prstGeom>
          <a:solidFill>
            <a:srgbClr val="00C9B1"/>
          </a:solidFill>
          <a:ln/>
        </p:spPr>
      </p:sp>
      <p:sp>
        <p:nvSpPr>
          <p:cNvPr id="7" name="Text 5"/>
          <p:cNvSpPr/>
          <p:nvPr/>
        </p:nvSpPr>
        <p:spPr>
          <a:xfrm>
            <a:off x="310896" y="89611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4F8A"/>
                </a:solidFill>
              </a:rPr>
              <a:t>1. Fix Data Types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10896" y="1225296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</a:rPr>
              <a:t>Fix Data Types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10896" y="146304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Date columns like order_date are read as object → convert with pd.to_datetime() to enable time-series analysis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45536" y="804672"/>
            <a:ext cx="27889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45536" y="804672"/>
            <a:ext cx="2788920" cy="64008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2" name="Text 10"/>
          <p:cNvSpPr/>
          <p:nvPr/>
        </p:nvSpPr>
        <p:spPr>
          <a:xfrm>
            <a:off x="3255264" y="89611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</a:rPr>
              <a:t>2. Standardize Text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55264" y="1225296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</a:rPr>
              <a:t>Standardize Text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255264" y="146304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str.strip() removes extra whitespace · str.title() standardizes letter casing in columns like Product 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9904" y="804672"/>
            <a:ext cx="27889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89904" y="804672"/>
            <a:ext cx="2788920" cy="64008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199632" y="89611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3D2A"/>
                </a:solidFill>
              </a:rPr>
              <a:t>3. Rename Columns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99632" y="1225296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</a:rPr>
              <a:t>Rename Columns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199632" y="146304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rename() changes column names to be compatible with Power BI or any visualization tool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01168" y="2624328"/>
            <a:ext cx="8741664" cy="2258568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01168" y="2624328"/>
            <a:ext cx="8741664" cy="274320"/>
          </a:xfrm>
          <a:prstGeom prst="rect">
            <a:avLst/>
          </a:prstGeom>
          <a:solidFill>
            <a:srgbClr val="162032"/>
          </a:solidFill>
          <a:ln/>
        </p:spPr>
      </p:sp>
      <p:sp>
        <p:nvSpPr>
          <p:cNvPr id="22" name="Text 20"/>
          <p:cNvSpPr/>
          <p:nvPr/>
        </p:nvSpPr>
        <p:spPr>
          <a:xfrm>
            <a:off x="320040" y="26243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🐍  data_cleaning.py  —  Step 04: Fix &amp; Validate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0040" y="2926080"/>
            <a:ext cx="8549640" cy="18928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── 1. Convert date columns ───────────────────────────────────
</a:t>
            </a:r>
            <a:r>
              <a:rPr lang="en-US" sz="9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</a:t>
            </a:r>
            <a:r>
              <a:rPr lang="en-US" sz="98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'order_date'</a:t>
            </a:r>
            <a:r>
              <a:rPr lang="en-US" sz="9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= pd.to_datetime(df[</a:t>
            </a:r>
            <a:r>
              <a:rPr lang="en-US" sz="98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'order_date'</a:t>
            </a:r>
            <a:r>
              <a:rPr lang="en-US" sz="9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errors=</a:t>
            </a:r>
            <a:r>
              <a:rPr lang="en-US" sz="98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'coerce'</a:t>
            </a:r>
            <a:r>
              <a:rPr lang="en-US" sz="9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r>
              <a:rPr lang="en-US" sz="98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── 2. Standardize text in product name and supplier columns ──────────
</a:t>
            </a:r>
            <a:r>
              <a:rPr lang="en-US" sz="980" dirty="0">
                <a:solidFill>
                  <a:srgbClr val="F8A9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9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col </a:t>
            </a:r>
            <a:r>
              <a:rPr lang="en-US" sz="980" dirty="0">
                <a:solidFill>
                  <a:srgbClr val="F8A9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9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</a:t>
            </a:r>
            <a:r>
              <a:rPr lang="en-US" sz="98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'Product type'</a:t>
            </a:r>
            <a:r>
              <a:rPr lang="en-US" sz="9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98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'Supplier name'</a:t>
            </a:r>
            <a:r>
              <a:rPr lang="en-US" sz="9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]:
    df[col] = df[col].str.strip().str.title()
</a:t>
            </a:r>
            <a:r>
              <a:rPr lang="en-US" sz="98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── 3. Rename column to standardize the name ─────────────────────
</a:t>
            </a:r>
            <a:r>
              <a:rPr lang="en-US" sz="9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df.rename(columns={</a:t>
            </a:r>
            <a:r>
              <a:rPr lang="en-US" sz="98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'Defect rates'</a:t>
            </a:r>
            <a:r>
              <a:rPr lang="en-US" sz="9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r>
              <a:rPr lang="en-US" sz="98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'Defect_Rate'</a:t>
            </a:r>
            <a:r>
              <a:rPr lang="en-US" sz="9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 inplace=</a:t>
            </a:r>
            <a:r>
              <a:rPr lang="en-US" sz="98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r>
              <a:rPr lang="en-US" sz="9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r>
              <a:rPr lang="en-US" sz="98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── 4. Final validation ──────────────────────────────────────
</a:t>
            </a:r>
            <a:r>
              <a:rPr lang="en-US" sz="98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9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('Remaining nulls:', df.isnull().sum().sum())
df.to_csv(</a:t>
            </a:r>
            <a:r>
              <a:rPr lang="en-US" sz="98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'cleaned_supply_chain_data.csv'</a:t>
            </a:r>
            <a:r>
              <a:rPr lang="en-US" sz="9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index=</a:t>
            </a:r>
            <a:r>
              <a:rPr lang="en-US" sz="98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r>
              <a:rPr lang="en-US" sz="9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C9BE8"/>
          </a:solidFill>
          <a:ln/>
        </p:spPr>
      </p:sp>
      <p:sp>
        <p:nvSpPr>
          <p:cNvPr id="3" name="Shape 1"/>
          <p:cNvSpPr/>
          <p:nvPr/>
        </p:nvSpPr>
        <p:spPr>
          <a:xfrm>
            <a:off x="6675120" y="-731520"/>
            <a:ext cx="3657600" cy="3657600"/>
          </a:xfrm>
          <a:prstGeom prst="ellipse">
            <a:avLst/>
          </a:prstGeom>
          <a:solidFill>
            <a:srgbClr val="4C9BE8">
              <a:alpha val="12000"/>
            </a:srgbClr>
          </a:solidFill>
          <a:ln w="12700">
            <a:solidFill>
              <a:srgbClr val="4C9B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0" y="2926080"/>
            <a:ext cx="2286000" cy="2286000"/>
          </a:xfrm>
          <a:prstGeom prst="ellipse">
            <a:avLst/>
          </a:prstGeom>
          <a:solidFill>
            <a:srgbClr val="F5A623">
              <a:alpha val="12000"/>
            </a:srgbClr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800" dirty="0">
                <a:solidFill>
                  <a:srgbClr val="4C9BE8"/>
                </a:solidFill>
              </a:rPr>
              <a:t>SUPPLY CHAIN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298448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Dashboard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365760" y="2606040"/>
            <a:ext cx="2743200" cy="1188720"/>
          </a:xfrm>
          <a:prstGeom prst="rect">
            <a:avLst/>
          </a:prstGeom>
          <a:solidFill>
            <a:srgbClr val="1A2535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2606040"/>
            <a:ext cx="2743200" cy="64008"/>
          </a:xfrm>
          <a:prstGeom prst="rect">
            <a:avLst/>
          </a:prstGeom>
          <a:solidFill>
            <a:srgbClr val="50C87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69748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💰  How much are we earning?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46120" y="2606040"/>
            <a:ext cx="2743200" cy="1188720"/>
          </a:xfrm>
          <a:prstGeom prst="rect">
            <a:avLst/>
          </a:prstGeom>
          <a:solidFill>
            <a:srgbClr val="1A2535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2606040"/>
            <a:ext cx="2743200" cy="64008"/>
          </a:xfrm>
          <a:prstGeom prst="rect">
            <a:avLst/>
          </a:prstGeom>
          <a:solidFill>
            <a:srgbClr val="4C9BE8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269748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📍  Where are we earning it?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0" y="2606040"/>
            <a:ext cx="2743200" cy="1188720"/>
          </a:xfrm>
          <a:prstGeom prst="rect">
            <a:avLst/>
          </a:prstGeom>
          <a:solidFill>
            <a:srgbClr val="1A2535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2606040"/>
            <a:ext cx="2743200" cy="6400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269748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🚀  What products are driving success?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39776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BEC5"/>
                </a:solidFill>
              </a:rPr>
              <a:t>These three questions shaped every design decision in this dashboard.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</a:rPr>
              <a:t>FY 2026  |  Overview  •  Supply Chain  •  Quality &amp; Production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2535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C9BE8"/>
                </a:solidFill>
              </a:rPr>
              <a:t>Financial Overview &amp; Product Mix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28600" y="777240"/>
            <a:ext cx="2057400" cy="1691640"/>
          </a:xfrm>
          <a:prstGeom prst="rect">
            <a:avLst/>
          </a:prstGeom>
          <a:solidFill>
            <a:srgbClr val="1A2535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777240"/>
            <a:ext cx="2057400" cy="64008"/>
          </a:xfrm>
          <a:prstGeom prst="rect">
            <a:avLst/>
          </a:prstGeom>
          <a:solidFill>
            <a:srgbClr val="4C9BE8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868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0BEC5"/>
                </a:solidFill>
              </a:rPr>
              <a:t>Total Revenue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28600" y="11887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4C9BE8"/>
                </a:solidFill>
              </a:rPr>
              <a:t>$577.6K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2004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07D8B"/>
                </a:solidFill>
              </a:rPr>
              <a:t>SUM(Revenue_generated)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423160" y="777240"/>
            <a:ext cx="2057400" cy="1691640"/>
          </a:xfrm>
          <a:prstGeom prst="rect">
            <a:avLst/>
          </a:prstGeom>
          <a:solidFill>
            <a:srgbClr val="1A2535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77240"/>
            <a:ext cx="2057400" cy="64008"/>
          </a:xfrm>
          <a:prstGeom prst="rect">
            <a:avLst/>
          </a:prstGeom>
          <a:solidFill>
            <a:srgbClr val="50C878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68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0BEC5"/>
                </a:solidFill>
              </a:rPr>
              <a:t>Actual Profit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1887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0C878"/>
                </a:solidFill>
              </a:rPr>
              <a:t>$519.4K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5146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07D8B"/>
                </a:solidFill>
              </a:rPr>
              <a:t>SUM(Profit) — Margin: 89.9%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617720" y="777240"/>
            <a:ext cx="2057400" cy="1691640"/>
          </a:xfrm>
          <a:prstGeom prst="rect">
            <a:avLst/>
          </a:prstGeom>
          <a:solidFill>
            <a:srgbClr val="1A2535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17720" y="777240"/>
            <a:ext cx="2057400" cy="6400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868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0BEC5"/>
                </a:solidFill>
              </a:rPr>
              <a:t>Avg Defect Rate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617720" y="11887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5A623"/>
                </a:solidFill>
              </a:rPr>
              <a:t>2.28%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70916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07D8B"/>
                </a:solidFill>
              </a:rPr>
              <a:t>AVERAGE(Defect_rates)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812280" y="777240"/>
            <a:ext cx="2057400" cy="1691640"/>
          </a:xfrm>
          <a:prstGeom prst="rect">
            <a:avLst/>
          </a:prstGeom>
          <a:solidFill>
            <a:srgbClr val="1A2535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12280" y="777240"/>
            <a:ext cx="2057400" cy="64008"/>
          </a:xfrm>
          <a:prstGeom prst="rect">
            <a:avLst/>
          </a:prstGeom>
          <a:solidFill>
            <a:srgbClr val="E8544C"/>
          </a:solidFill>
          <a:ln/>
        </p:spPr>
      </p:sp>
      <p:sp>
        <p:nvSpPr>
          <p:cNvPr id="21" name="Text 19"/>
          <p:cNvSpPr/>
          <p:nvPr/>
        </p:nvSpPr>
        <p:spPr>
          <a:xfrm>
            <a:off x="6812280" y="868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0BEC5"/>
                </a:solidFill>
              </a:rPr>
              <a:t>Total Units Sold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812280" y="11887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8544C"/>
                </a:solidFill>
              </a:rPr>
              <a:t>46K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9037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07D8B"/>
                </a:solidFill>
              </a:rPr>
              <a:t>Avg price/unit ≈ $12.5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28600" y="2606040"/>
            <a:ext cx="8686800" cy="502920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25" name="Shape 23"/>
          <p:cNvSpPr/>
          <p:nvPr/>
        </p:nvSpPr>
        <p:spPr>
          <a:xfrm>
            <a:off x="228600" y="2606040"/>
            <a:ext cx="45720" cy="502920"/>
          </a:xfrm>
          <a:prstGeom prst="rect">
            <a:avLst/>
          </a:prstGeom>
          <a:solidFill>
            <a:srgbClr val="50C878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26060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EC5"/>
                </a:solidFill>
              </a:rPr>
              <a:t>These KPIs weren't chosen randomly — they cover 3 analytical dimensions simultaneously:</a:t>
            </a:r>
            <a:r>
              <a:rPr lang="en-US" sz="1000" b="1" dirty="0">
                <a:solidFill>
                  <a:srgbClr val="50C878"/>
                </a:solidFill>
              </a:rPr>
              <a:t>  Financial performance,  </a:t>
            </a:r>
            <a:r>
              <a:rPr lang="en-US" sz="1000" b="1" dirty="0">
                <a:solidFill>
                  <a:srgbClr val="F5A623"/>
                </a:solidFill>
              </a:rPr>
              <a:t>Quality control,</a:t>
            </a:r>
            <a:r>
              <a:rPr lang="en-US" sz="1000" b="1" dirty="0">
                <a:solidFill>
                  <a:srgbClr val="4C9BE8"/>
                </a:solidFill>
              </a:rPr>
              <a:t>  and  Sales volume.</a:t>
            </a:r>
            <a:endParaRPr lang="en-US" sz="1000" dirty="0"/>
          </a:p>
        </p:txBody>
      </p:sp>
      <p:graphicFrame>
        <p:nvGraphicFramePr>
          <p:cNvPr id="27" name="Chart 0"/>
          <p:cNvGraphicFramePr/>
          <p:nvPr/>
        </p:nvGraphicFramePr>
        <p:xfrm>
          <a:off x="228600" y="3246120"/>
          <a:ext cx="3840480" cy="1691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8" name="Shape 25"/>
          <p:cNvSpPr/>
          <p:nvPr/>
        </p:nvSpPr>
        <p:spPr>
          <a:xfrm>
            <a:off x="4251960" y="3246120"/>
            <a:ext cx="1350000" cy="1691640"/>
          </a:xfrm>
          <a:prstGeom prst="rect">
            <a:avLst/>
          </a:prstGeom>
          <a:solidFill>
            <a:srgbClr val="1A2535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4251960" y="3246120"/>
            <a:ext cx="45720" cy="169164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0" name="Text 27"/>
          <p:cNvSpPr/>
          <p:nvPr/>
        </p:nvSpPr>
        <p:spPr>
          <a:xfrm>
            <a:off x="4407408" y="9999999"/>
            <a:ext cx="12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</a:rPr>
              <a:t>Why Donut, not Pie?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4407408" y="9999999"/>
            <a:ext cx="1200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EC5"/>
                </a:solidFill>
              </a:rPr>
              <a:t>Donut charts focus the eye on proportions, not areas — much clearer with 3 categories.
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Key insight: </a:t>
            </a:r>
            <a:r>
              <a:rPr lang="en-US" sz="1000" dirty="0">
                <a:solidFill>
                  <a:srgbClr val="B0BEC5"/>
                </a:solidFill>
              </a:rPr>
              <a:t>The gap between Cosmetics (30.2%) and Haircare (27.95%) is only 2.25%. A small investment in Haircare could flip the ranking — a real strategic opportunity invisible to the naked eye.</a:t>
            </a:r>
            <a:endParaRPr lang="en-US" sz="1000" dirty="0"/>
          </a:p>
        </p:txBody>
      </p:sp>
      <p:graphicFrame>
        <p:nvGraphicFramePr>
          <p:cNvPr id="81" name="Chart Profit by Location"/>
          <p:cNvGraphicFramePr/>
          <p:nvPr/>
        </p:nvGraphicFramePr>
        <p:xfrm>
          <a:off x="4250000" y="3246120"/>
          <a:ext cx="4750000" cy="1691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2535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0C878"/>
                </a:solidFill>
              </a:rPr>
              <a:t>Where &amp; What: Regional Profit + Product Efficiency</a:t>
            </a:r>
            <a:endParaRPr lang="en-US" sz="18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228600" y="777240"/>
          <a:ext cx="420624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228600" y="3657600"/>
            <a:ext cx="4206240" cy="1188720"/>
          </a:xfrm>
          <a:prstGeom prst="rect">
            <a:avLst/>
          </a:prstGeom>
          <a:solidFill>
            <a:srgbClr val="1A2535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28600" y="3657600"/>
            <a:ext cx="45720" cy="1188720"/>
          </a:xfrm>
          <a:prstGeom prst="rect">
            <a:avLst/>
          </a:prstGeom>
          <a:solidFill>
            <a:srgbClr val="E8544C"/>
          </a:solidFill>
          <a:ln/>
        </p:spPr>
      </p:sp>
      <p:sp>
        <p:nvSpPr>
          <p:cNvPr id="7" name="Text 4"/>
          <p:cNvSpPr/>
          <p:nvPr/>
        </p:nvSpPr>
        <p:spPr>
          <a:xfrm>
            <a:off x="384048" y="372160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544C"/>
                </a:solidFill>
              </a:rPr>
              <a:t>Why is Delhi underperforming?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84048" y="4059936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</a:rPr>
              <a:t>It doesn't mean the market is weak — it means there's a problem worth investigating: higher shipping costs, less efficient suppliers, or stronger local competition. The 3-page dashboard design lets a manager spot the issue in Overview and drill into Supply Chain to investigate.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663440" y="777240"/>
            <a:ext cx="4251960" cy="365760"/>
          </a:xfrm>
          <a:prstGeom prst="rect">
            <a:avLst/>
          </a:prstGeom>
          <a:solidFill>
            <a:srgbClr val="1E3050"/>
          </a:solidFill>
          <a:ln/>
        </p:spPr>
      </p:sp>
      <p:sp>
        <p:nvSpPr>
          <p:cNvPr id="10" name="Text 7"/>
          <p:cNvSpPr/>
          <p:nvPr/>
        </p:nvSpPr>
        <p:spPr>
          <a:xfrm>
            <a:off x="4663440" y="7772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SKU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943600" y="7772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Revenue ($)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315200" y="7772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Turnover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1188720"/>
            <a:ext cx="4251960" cy="438912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14" name="Text 11"/>
          <p:cNvSpPr/>
          <p:nvPr/>
        </p:nvSpPr>
        <p:spPr>
          <a:xfrm>
            <a:off x="4663440" y="118872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SKU51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943600" y="118872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C9BE8"/>
                </a:solidFill>
              </a:rPr>
              <a:t>9,866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15200" y="1188720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544C"/>
                </a:solidFill>
              </a:rPr>
              <a:t>1.54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663440" y="1664208"/>
            <a:ext cx="4251960" cy="438912"/>
          </a:xfrm>
          <a:prstGeom prst="rect">
            <a:avLst/>
          </a:prstGeom>
          <a:solidFill>
            <a:srgbClr val="1A2535"/>
          </a:solidFill>
          <a:ln/>
        </p:spPr>
      </p:sp>
      <p:sp>
        <p:nvSpPr>
          <p:cNvPr id="18" name="Text 15"/>
          <p:cNvSpPr/>
          <p:nvPr/>
        </p:nvSpPr>
        <p:spPr>
          <a:xfrm>
            <a:off x="4663440" y="166420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SKU38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943600" y="166420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C9BE8"/>
                </a:solidFill>
              </a:rPr>
              <a:t>9,862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0" y="166420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0BEC5"/>
                </a:solidFill>
              </a:rPr>
              <a:t>10.22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663440" y="2139696"/>
            <a:ext cx="4251960" cy="438912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22" name="Text 19"/>
          <p:cNvSpPr/>
          <p:nvPr/>
        </p:nvSpPr>
        <p:spPr>
          <a:xfrm>
            <a:off x="4663440" y="2139696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SKU31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943600" y="2139696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C9BE8"/>
                </a:solidFill>
              </a:rPr>
              <a:t>9,855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7315200" y="2139696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0C878"/>
                </a:solidFill>
              </a:rPr>
              <a:t>28.00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663440" y="2615184"/>
            <a:ext cx="4251960" cy="438912"/>
          </a:xfrm>
          <a:prstGeom prst="rect">
            <a:avLst/>
          </a:prstGeom>
          <a:solidFill>
            <a:srgbClr val="1A2535"/>
          </a:solidFill>
          <a:ln/>
        </p:spPr>
      </p:sp>
      <p:sp>
        <p:nvSpPr>
          <p:cNvPr id="26" name="Text 23"/>
          <p:cNvSpPr/>
          <p:nvPr/>
        </p:nvSpPr>
        <p:spPr>
          <a:xfrm>
            <a:off x="4663440" y="2615184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SKU67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5943600" y="261518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C9BE8"/>
                </a:solidFill>
              </a:rPr>
              <a:t>9,474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7315200" y="2615184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0C878"/>
                </a:solidFill>
              </a:rPr>
              <a:t>42.75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663440" y="3090672"/>
            <a:ext cx="4251960" cy="438912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30" name="Text 27"/>
          <p:cNvSpPr/>
          <p:nvPr/>
        </p:nvSpPr>
        <p:spPr>
          <a:xfrm>
            <a:off x="4663440" y="309067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SKU18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5943600" y="3090672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C9BE8"/>
                </a:solidFill>
              </a:rPr>
              <a:t>9,364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7315200" y="3090672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0C878"/>
                </a:solidFill>
              </a:rPr>
              <a:t>62.00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663440" y="3547872"/>
            <a:ext cx="4251960" cy="1371600"/>
          </a:xfrm>
          <a:prstGeom prst="rect">
            <a:avLst/>
          </a:prstGeom>
          <a:solidFill>
            <a:srgbClr val="1A2535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663440" y="3547872"/>
            <a:ext cx="45720" cy="1371600"/>
          </a:xfrm>
          <a:prstGeom prst="rect">
            <a:avLst/>
          </a:prstGeom>
          <a:solidFill>
            <a:srgbClr val="50C878"/>
          </a:solidFill>
          <a:ln/>
        </p:spPr>
      </p:sp>
      <p:sp>
        <p:nvSpPr>
          <p:cNvPr id="35" name="Text 32"/>
          <p:cNvSpPr/>
          <p:nvPr/>
        </p:nvSpPr>
        <p:spPr>
          <a:xfrm>
            <a:off x="4818888" y="360273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0C878"/>
                </a:solidFill>
              </a:rPr>
              <a:t>Multi-Dimensional Analysis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4818888" y="3913632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544C"/>
                </a:solidFill>
              </a:rPr>
              <a:t>SKU51</a:t>
            </a:r>
            <a:r>
              <a:rPr lang="en-US" sz="900" dirty="0">
                <a:solidFill>
                  <a:srgbClr val="B0BEC5"/>
                </a:solidFill>
              </a:rPr>
              <a:t> has the highest revenue but turnover of only 1.54 — stock is sitting, freezing capital.
</a:t>
            </a:r>
            <a:r>
              <a:rPr lang="en-US" sz="900" b="1" dirty="0">
                <a:solidFill>
                  <a:srgbClr val="50C878"/>
                </a:solidFill>
              </a:rPr>
              <a:t>SKU31</a:t>
            </a:r>
            <a:r>
              <a:rPr lang="en-US" sz="900" dirty="0">
                <a:solidFill>
                  <a:srgbClr val="B0BEC5"/>
                </a:solidFill>
              </a:rPr>
              <a:t> earns less but turns 28x — fast cash, low risk.
</a:t>
            </a:r>
            <a:r>
              <a:rPr lang="en-US" sz="900" b="1" dirty="0">
                <a:solidFill>
                  <a:srgbClr val="F5A623"/>
                </a:solidFill>
              </a:rPr>
              <a:t>SKU18</a:t>
            </a:r>
            <a:r>
              <a:rPr lang="en-US" sz="900" dirty="0">
                <a:solidFill>
                  <a:srgbClr val="B0BEC5"/>
                </a:solidFill>
              </a:rPr>
              <a:t> turnover of 62 — highest in the portfolio. Best asset for liquidity and cash flow. Understand what drives it and apply it to slower products.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2535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A623"/>
                </a:solidFill>
              </a:rPr>
              <a:t>How It Was Built  &amp;  Key Takeaways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2560320" cy="1828800"/>
          </a:xfrm>
          <a:prstGeom prst="rect">
            <a:avLst/>
          </a:prstGeom>
          <a:solidFill>
            <a:srgbClr val="1A2535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777240"/>
            <a:ext cx="2560320" cy="64008"/>
          </a:xfrm>
          <a:prstGeom prst="rect">
            <a:avLst/>
          </a:prstGeom>
          <a:solidFill>
            <a:srgbClr val="4C9BE8"/>
          </a:solidFill>
          <a:ln/>
        </p:spPr>
      </p:sp>
      <p:sp>
        <p:nvSpPr>
          <p:cNvPr id="6" name="Shape 4"/>
          <p:cNvSpPr/>
          <p:nvPr/>
        </p:nvSpPr>
        <p:spPr>
          <a:xfrm>
            <a:off x="1508760" y="914400"/>
            <a:ext cx="640080" cy="640080"/>
          </a:xfrm>
          <a:prstGeom prst="ellipse">
            <a:avLst/>
          </a:prstGeom>
          <a:solidFill>
            <a:srgbClr val="4C9BE8">
              <a:alpha val="2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508760" y="914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C9BE8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62763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DAX Measures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9659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0BEC5"/>
                </a:solidFill>
              </a:rPr>
              <a:t>Built all KPI measures in Power BI using SUM, AVERAGE, and calculated columns.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83280" y="777240"/>
            <a:ext cx="2560320" cy="1828800"/>
          </a:xfrm>
          <a:prstGeom prst="rect">
            <a:avLst/>
          </a:prstGeom>
          <a:solidFill>
            <a:srgbClr val="1A2535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83280" y="777240"/>
            <a:ext cx="2560320" cy="64008"/>
          </a:xfrm>
          <a:prstGeom prst="rect">
            <a:avLst/>
          </a:prstGeom>
          <a:solidFill>
            <a:srgbClr val="50C878"/>
          </a:solidFill>
          <a:ln/>
        </p:spPr>
      </p:sp>
      <p:sp>
        <p:nvSpPr>
          <p:cNvPr id="12" name="Shape 10"/>
          <p:cNvSpPr/>
          <p:nvPr/>
        </p:nvSpPr>
        <p:spPr>
          <a:xfrm>
            <a:off x="4343400" y="914400"/>
            <a:ext cx="640080" cy="640080"/>
          </a:xfrm>
          <a:prstGeom prst="ellipse">
            <a:avLst/>
          </a:prstGeom>
          <a:solidFill>
            <a:srgbClr val="50C878">
              <a:alpha val="2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343400" y="914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0C878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74720" y="162763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Visual Design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20440" y="19659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0BEC5"/>
                </a:solidFill>
              </a:rPr>
              <a:t>Chose each chart type based on the data's nature — not aesthetics.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17920" y="777240"/>
            <a:ext cx="2560320" cy="1828800"/>
          </a:xfrm>
          <a:prstGeom prst="rect">
            <a:avLst/>
          </a:prstGeom>
          <a:solidFill>
            <a:srgbClr val="1A2535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777240"/>
            <a:ext cx="2560320" cy="64008"/>
          </a:xfrm>
          <a:prstGeom prst="rect">
            <a:avLst/>
          </a:prstGeom>
          <a:solidFill>
            <a:srgbClr val="9575CD"/>
          </a:solidFill>
          <a:ln/>
        </p:spPr>
      </p:sp>
      <p:sp>
        <p:nvSpPr>
          <p:cNvPr id="18" name="Shape 16"/>
          <p:cNvSpPr/>
          <p:nvPr/>
        </p:nvSpPr>
        <p:spPr>
          <a:xfrm>
            <a:off x="7178040" y="914400"/>
            <a:ext cx="640080" cy="640080"/>
          </a:xfrm>
          <a:prstGeom prst="ellipse">
            <a:avLst/>
          </a:prstGeom>
          <a:solidFill>
            <a:srgbClr val="9575CD">
              <a:alpha val="2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7178040" y="914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575CD"/>
                </a:solidFill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0" y="162763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Slicer Integration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55080" y="19659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0BEC5"/>
                </a:solidFill>
              </a:rPr>
              <a:t>Connected all 4 slicers to every visual so any filter affects the full page instantly.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28600" y="2834640"/>
            <a:ext cx="8686800" cy="502920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23" name="Shape 21"/>
          <p:cNvSpPr/>
          <p:nvPr/>
        </p:nvSpPr>
        <p:spPr>
          <a:xfrm>
            <a:off x="228600" y="2834640"/>
            <a:ext cx="45720" cy="502920"/>
          </a:xfrm>
          <a:prstGeom prst="rect">
            <a:avLst/>
          </a:prstGeom>
          <a:solidFill>
            <a:srgbClr val="50C878"/>
          </a:solidFill>
          <a:ln/>
        </p:spPr>
      </p:sp>
      <p:sp>
        <p:nvSpPr>
          <p:cNvPr id="24" name="Text 22"/>
          <p:cNvSpPr/>
          <p:nvPr/>
        </p:nvSpPr>
        <p:spPr>
          <a:xfrm>
            <a:off x="384048" y="28346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FFFFFF"/>
                </a:solidFill>
              </a:rPr>
              <a:t>The result: not a dashboard that displays numbers — a dashboard that answers questions.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8600" y="3520440"/>
            <a:ext cx="2788920" cy="1325880"/>
          </a:xfrm>
          <a:prstGeom prst="rect">
            <a:avLst/>
          </a:prstGeom>
          <a:solidFill>
            <a:srgbClr val="1A2535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28600" y="3520440"/>
            <a:ext cx="2788920" cy="54864"/>
          </a:xfrm>
          <a:prstGeom prst="rect">
            <a:avLst/>
          </a:prstGeom>
          <a:solidFill>
            <a:srgbClr val="50C878"/>
          </a:solidFill>
          <a:ln/>
        </p:spPr>
      </p:sp>
      <p:sp>
        <p:nvSpPr>
          <p:cNvPr id="27" name="Text 25"/>
          <p:cNvSpPr/>
          <p:nvPr/>
        </p:nvSpPr>
        <p:spPr>
          <a:xfrm>
            <a:off x="338328" y="359359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EC5"/>
                </a:solidFill>
              </a:rPr>
              <a:t>How much are we earning?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38328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0C878"/>
                </a:solidFill>
              </a:rPr>
              <a:t>89.9% profit margin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136392" y="3520440"/>
            <a:ext cx="2788920" cy="1325880"/>
          </a:xfrm>
          <a:prstGeom prst="rect">
            <a:avLst/>
          </a:prstGeom>
          <a:solidFill>
            <a:srgbClr val="1A2535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136392" y="3520440"/>
            <a:ext cx="2788920" cy="54864"/>
          </a:xfrm>
          <a:prstGeom prst="rect">
            <a:avLst/>
          </a:prstGeom>
          <a:solidFill>
            <a:srgbClr val="4C9BE8"/>
          </a:solidFill>
          <a:ln/>
        </p:spPr>
      </p:sp>
      <p:sp>
        <p:nvSpPr>
          <p:cNvPr id="31" name="Text 29"/>
          <p:cNvSpPr/>
          <p:nvPr/>
        </p:nvSpPr>
        <p:spPr>
          <a:xfrm>
            <a:off x="3246120" y="359359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EC5"/>
                </a:solidFill>
              </a:rPr>
              <a:t>Where are we earning it?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24612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C9BE8"/>
                </a:solidFill>
              </a:rPr>
              <a:t>Mumbai &amp; Kolkata lead. Delhi needs attention.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044184" y="3520440"/>
            <a:ext cx="2788920" cy="1325880"/>
          </a:xfrm>
          <a:prstGeom prst="rect">
            <a:avLst/>
          </a:prstGeom>
          <a:solidFill>
            <a:srgbClr val="1A2535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044184" y="3520440"/>
            <a:ext cx="2788920" cy="54864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5" name="Text 33"/>
          <p:cNvSpPr/>
          <p:nvPr/>
        </p:nvSpPr>
        <p:spPr>
          <a:xfrm>
            <a:off x="6153912" y="359359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EC5"/>
                </a:solidFill>
              </a:rPr>
              <a:t>What products drive success?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53912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</a:rPr>
              <a:t>Skincare dominates. Haircare is the next opportunity.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28600" y="109728"/>
            <a:ext cx="402336" cy="402336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49808" y="91440"/>
            <a:ext cx="6858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— Dashboard Overview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863840" y="109728"/>
            <a:ext cx="1143000" cy="347472"/>
          </a:xfrm>
          <a:prstGeom prst="roundRect">
            <a:avLst>
              <a:gd name="adj" fmla="val 13158"/>
            </a:avLst>
          </a:prstGeom>
          <a:solidFill>
            <a:srgbClr val="1A3A2A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863840" y="109728"/>
            <a:ext cx="1143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0" y="658368"/>
            <a:ext cx="9144000" cy="41148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704088"/>
            <a:ext cx="5943600" cy="4434840"/>
          </a:xfrm>
          <a:prstGeom prst="rect">
            <a:avLst/>
          </a:prstGeom>
          <a:solidFill>
            <a:srgbClr val="131F30"/>
          </a:solidFill>
          <a:ln w="6350">
            <a:solidFill>
              <a:srgbClr val="1E2D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1440" y="822960"/>
            <a:ext cx="5760720" cy="411480"/>
          </a:xfrm>
          <a:prstGeom prst="rect">
            <a:avLst/>
          </a:prstGeom>
          <a:solidFill>
            <a:srgbClr val="0B1520"/>
          </a:solidFill>
          <a:ln w="6350">
            <a:solidFill>
              <a:srgbClr val="1E2D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37160" y="82296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⬛  Supply Chain          Overview       Supply Chain       Quality &amp; Production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37160" y="1298448"/>
            <a:ext cx="1371600" cy="822960"/>
          </a:xfrm>
          <a:prstGeom prst="rect">
            <a:avLst/>
          </a:prstGeom>
          <a:solidFill>
            <a:srgbClr val="0B1520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37160" y="135331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46K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7160" y="1737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Unit Sold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1563624" y="1298448"/>
            <a:ext cx="1371600" cy="822960"/>
          </a:xfrm>
          <a:prstGeom prst="rect">
            <a:avLst/>
          </a:prstGeom>
          <a:solidFill>
            <a:srgbClr val="0B1520"/>
          </a:solidFill>
          <a:ln w="12700">
            <a:solidFill>
              <a:srgbClr val="EF53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563624" y="135331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F5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1.01K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563624" y="1737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Defects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990088" y="1298448"/>
            <a:ext cx="1371600" cy="822960"/>
          </a:xfrm>
          <a:prstGeom prst="rect">
            <a:avLst/>
          </a:prstGeom>
          <a:solidFill>
            <a:srgbClr val="0B1520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990088" y="135331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2990088" y="1737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of Suppliers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416552" y="1298448"/>
            <a:ext cx="1371600" cy="822960"/>
          </a:xfrm>
          <a:prstGeom prst="rect">
            <a:avLst/>
          </a:prstGeom>
          <a:solidFill>
            <a:srgbClr val="0B1520"/>
          </a:solidFill>
          <a:ln w="12700">
            <a:solidFill>
              <a:srgbClr val="FFB30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416552" y="135331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ar-EG" sz="18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416552" y="1737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Lead Time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91440" y="2212848"/>
            <a:ext cx="5760720" cy="274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82880" y="23317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by Supplier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82880" y="2633472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Supplier1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960120" y="2670048"/>
            <a:ext cx="1865376" cy="164592"/>
          </a:xfrm>
          <a:prstGeom prst="rect">
            <a:avLst/>
          </a:prstGeom>
          <a:solidFill>
            <a:srgbClr val="00B4D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871216" y="2633472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399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182880" y="2953512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Supplier2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960120" y="2990088"/>
            <a:ext cx="1909267" cy="164592"/>
          </a:xfrm>
          <a:prstGeom prst="rect">
            <a:avLst/>
          </a:prstGeom>
          <a:solidFill>
            <a:srgbClr val="EF535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915107" y="2953512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408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82880" y="3273552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Supplier3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960120" y="3310128"/>
            <a:ext cx="1404518" cy="164592"/>
          </a:xfrm>
          <a:prstGeom prst="rect">
            <a:avLst/>
          </a:prstGeom>
          <a:solidFill>
            <a:srgbClr val="00B4D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2410358" y="3273552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302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182880" y="3593592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Supplier4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960120" y="3630168"/>
            <a:ext cx="1272845" cy="164592"/>
          </a:xfrm>
          <a:prstGeom prst="rect">
            <a:avLst/>
          </a:prstGeom>
          <a:solidFill>
            <a:srgbClr val="00B4D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2278685" y="3593592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274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182880" y="3913632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Supplier5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960120" y="3950208"/>
            <a:ext cx="1514246" cy="164592"/>
          </a:xfrm>
          <a:prstGeom prst="rect">
            <a:avLst/>
          </a:prstGeom>
          <a:solidFill>
            <a:srgbClr val="00B4D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520086" y="3913632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325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182880" y="4343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Rates %  |  Highest: Supplier5 (2.67%)   Lowest: Supplier1 (1.80%)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080760" y="749808"/>
            <a:ext cx="2971800" cy="841248"/>
          </a:xfrm>
          <a:prstGeom prst="rect">
            <a:avLst/>
          </a:prstGeom>
          <a:solidFill>
            <a:srgbClr val="172030"/>
          </a:solidFill>
          <a:ln w="9525">
            <a:solidFill>
              <a:srgbClr val="1E2D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080760" y="749808"/>
            <a:ext cx="50292" cy="8412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190488" y="822960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Unit Sold — 46K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190488" y="1078992"/>
            <a:ext cx="278892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Represents the total volume of products shipped in the period.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 as the denominator when calculating per-unit cost or defect rate.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080760" y="1664208"/>
            <a:ext cx="2971800" cy="841248"/>
          </a:xfrm>
          <a:prstGeom prst="rect">
            <a:avLst/>
          </a:prstGeom>
          <a:solidFill>
            <a:srgbClr val="172030"/>
          </a:solidFill>
          <a:ln w="9525">
            <a:solidFill>
              <a:srgbClr val="1E2D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080760" y="1664208"/>
            <a:ext cx="50292" cy="841248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190488" y="1737360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Defects — 1.01K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190488" y="1993392"/>
            <a:ext cx="278892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number of defective units recorded across all suppliers.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against each supplier's defect rate to find the root cause.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80760" y="2578608"/>
            <a:ext cx="2971800" cy="841248"/>
          </a:xfrm>
          <a:prstGeom prst="rect">
            <a:avLst/>
          </a:prstGeom>
          <a:solidFill>
            <a:srgbClr val="172030"/>
          </a:solidFill>
          <a:ln w="9525">
            <a:solidFill>
              <a:srgbClr val="1E2D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080760" y="2578608"/>
            <a:ext cx="50292" cy="841248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190488" y="2651760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of Suppliers — 5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190488" y="2907792"/>
            <a:ext cx="278892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active suppliers contributing to the supply chain in this period.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Diversity reduces dependency risk — monitor each supplier's KPIs individually.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080760" y="3493008"/>
            <a:ext cx="2971800" cy="841248"/>
          </a:xfrm>
          <a:prstGeom prst="rect">
            <a:avLst/>
          </a:prstGeom>
          <a:solidFill>
            <a:srgbClr val="172030"/>
          </a:solidFill>
          <a:ln w="9525">
            <a:solidFill>
              <a:srgbClr val="1E2D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6080760" y="3493008"/>
            <a:ext cx="50292" cy="841248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6190488" y="3566160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Lead Time — </a:t>
            </a:r>
            <a:r>
              <a:rPr lang="ar-EG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190488" y="3822192"/>
            <a:ext cx="278892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days across all suppliers from order to delivery.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against individual supplier lead times to identify who drags the average up.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080760" y="4480560"/>
            <a:ext cx="2971800" cy="365760"/>
          </a:xfrm>
          <a:prstGeom prst="rect">
            <a:avLst/>
          </a:prstGeom>
          <a:solidFill>
            <a:srgbClr val="172030"/>
          </a:solidFill>
          <a:ln w="12700">
            <a:solidFill>
              <a:srgbClr val="FFB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6080760" y="4480560"/>
            <a:ext cx="50292" cy="36576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6199632" y="4480560"/>
            <a:ext cx="28072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Supplier2 drives the highest lead time (408) — primary optimization target.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28600" y="109728"/>
            <a:ext cx="402336" cy="402336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49808" y="91440"/>
            <a:ext cx="6858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Lead Time Analysis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863840" y="109728"/>
            <a:ext cx="1143000" cy="347472"/>
          </a:xfrm>
          <a:prstGeom prst="roundRect">
            <a:avLst>
              <a:gd name="adj" fmla="val 13158"/>
            </a:avLst>
          </a:prstGeom>
          <a:solidFill>
            <a:srgbClr val="1A3A2A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863840" y="109728"/>
            <a:ext cx="1143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0" y="658368"/>
            <a:ext cx="9144000" cy="41148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704088"/>
            <a:ext cx="5943600" cy="4434840"/>
          </a:xfrm>
          <a:prstGeom prst="rect">
            <a:avLst/>
          </a:prstGeom>
          <a:solidFill>
            <a:srgbClr val="131F30"/>
          </a:solidFill>
          <a:ln w="6350">
            <a:solidFill>
              <a:srgbClr val="1E2D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9" name="Chart 0"/>
          <p:cNvGraphicFramePr/>
          <p:nvPr/>
        </p:nvGraphicFramePr>
        <p:xfrm>
          <a:off x="137160" y="804672"/>
          <a:ext cx="571500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Shape 7"/>
          <p:cNvSpPr/>
          <p:nvPr/>
        </p:nvSpPr>
        <p:spPr>
          <a:xfrm>
            <a:off x="6080760" y="749808"/>
            <a:ext cx="2971800" cy="1115568"/>
          </a:xfrm>
          <a:prstGeom prst="rect">
            <a:avLst/>
          </a:prstGeom>
          <a:solidFill>
            <a:srgbClr val="172030"/>
          </a:solidFill>
          <a:ln w="9525">
            <a:solidFill>
              <a:srgbClr val="1E2D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6080760" y="749808"/>
            <a:ext cx="50292" cy="111556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190488" y="822960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Lead Time?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190488" y="1078992"/>
            <a:ext cx="278892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how long suppliers take to fulfill and deliver products.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lead times directly improve customer satisfaction and reduce inventory holding costs.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 chart to rank suppliers by delivery speed.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080760" y="1938528"/>
            <a:ext cx="2971800" cy="1005840"/>
          </a:xfrm>
          <a:prstGeom prst="rect">
            <a:avLst/>
          </a:prstGeom>
          <a:solidFill>
            <a:srgbClr val="172030"/>
          </a:solidFill>
          <a:ln w="9525">
            <a:solidFill>
              <a:srgbClr val="1E2D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6080760" y="1938528"/>
            <a:ext cx="50292" cy="1005840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190488" y="2011680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Supplier2 — Highest at 408 days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190488" y="2267712"/>
            <a:ext cx="27889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lead time across all suppliers — a primary optimization target.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whether contract terms, geography, or process inefficiency is the cause.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080760" y="3017520"/>
            <a:ext cx="2971800" cy="914400"/>
          </a:xfrm>
          <a:prstGeom prst="rect">
            <a:avLst/>
          </a:prstGeom>
          <a:solidFill>
            <a:srgbClr val="172030"/>
          </a:solidFill>
          <a:ln w="9525">
            <a:solidFill>
              <a:srgbClr val="1E2D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6080760" y="3017520"/>
            <a:ext cx="50292" cy="914400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6190488" y="3090672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Supplier4 — Lowest at 274 days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190488" y="3346704"/>
            <a:ext cx="278892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supplier in the portfolio — benchmark its practices.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whether Supplier4's process can be replicated by slower suppliers.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080760" y="4041648"/>
            <a:ext cx="1435608" cy="640080"/>
          </a:xfrm>
          <a:prstGeom prst="rect">
            <a:avLst/>
          </a:prstGeom>
          <a:solidFill>
            <a:srgbClr val="172030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6080760" y="4041648"/>
            <a:ext cx="50292" cy="640080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199632" y="4041648"/>
            <a:ext cx="12710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Supplier4 fastest — replicate its practices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7589520" y="4041648"/>
            <a:ext cx="1463040" cy="640080"/>
          </a:xfrm>
          <a:prstGeom prst="rect">
            <a:avLst/>
          </a:prstGeom>
          <a:solidFill>
            <a:srgbClr val="172030"/>
          </a:solidFill>
          <a:ln w="12700">
            <a:solidFill>
              <a:srgbClr val="FFB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7589520" y="4041648"/>
            <a:ext cx="50292" cy="64008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7708392" y="4041648"/>
            <a:ext cx="129844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Supplier2 slowest — review contract immediately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28600" y="109728"/>
            <a:ext cx="402336" cy="402336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49808" y="91440"/>
            <a:ext cx="6858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Control and Inspection Results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863840" y="109728"/>
            <a:ext cx="1143000" cy="347472"/>
          </a:xfrm>
          <a:prstGeom prst="roundRect">
            <a:avLst>
              <a:gd name="adj" fmla="val 13158"/>
            </a:avLst>
          </a:prstGeom>
          <a:solidFill>
            <a:srgbClr val="1A3A2A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863840" y="109728"/>
            <a:ext cx="1143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0" y="658368"/>
            <a:ext cx="9144000" cy="41148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704088"/>
            <a:ext cx="5943600" cy="4434840"/>
          </a:xfrm>
          <a:prstGeom prst="rect">
            <a:avLst/>
          </a:prstGeom>
          <a:solidFill>
            <a:srgbClr val="131F30"/>
          </a:solidFill>
          <a:ln w="6350">
            <a:solidFill>
              <a:srgbClr val="1E2D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9" name="Chart 0"/>
          <p:cNvGraphicFramePr/>
          <p:nvPr/>
        </p:nvGraphicFramePr>
        <p:xfrm>
          <a:off x="137160" y="804672"/>
          <a:ext cx="347472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" name="Chart 1"/>
          <p:cNvGraphicFramePr/>
          <p:nvPr/>
        </p:nvGraphicFramePr>
        <p:xfrm>
          <a:off x="3611880" y="804672"/>
          <a:ext cx="224028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Shape 7"/>
          <p:cNvSpPr/>
          <p:nvPr/>
        </p:nvSpPr>
        <p:spPr>
          <a:xfrm>
            <a:off x="182880" y="3291840"/>
            <a:ext cx="1828800" cy="841248"/>
          </a:xfrm>
          <a:prstGeom prst="rect">
            <a:avLst/>
          </a:prstGeom>
          <a:solidFill>
            <a:srgbClr val="0B1520"/>
          </a:solidFill>
          <a:ln w="12700">
            <a:solidFill>
              <a:srgbClr val="EF53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182880" y="3364992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5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Supplier5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82880" y="3694176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Defect  2.67%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2103120" y="3291840"/>
            <a:ext cx="1828800" cy="841248"/>
          </a:xfrm>
          <a:prstGeom prst="rect">
            <a:avLst/>
          </a:prstGeom>
          <a:solidFill>
            <a:srgbClr val="0B1520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2103120" y="3364992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Supplier1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2103120" y="3694176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Defect  1.80%</a:t>
            </a:r>
            <a:endParaRPr lang="en-US" sz="700" dirty="0"/>
          </a:p>
        </p:txBody>
      </p:sp>
      <p:sp>
        <p:nvSpPr>
          <p:cNvPr id="17" name="Shape 13"/>
          <p:cNvSpPr/>
          <p:nvPr/>
        </p:nvSpPr>
        <p:spPr>
          <a:xfrm>
            <a:off x="4023360" y="3291840"/>
            <a:ext cx="1828800" cy="841248"/>
          </a:xfrm>
          <a:prstGeom prst="rect">
            <a:avLst/>
          </a:prstGeom>
          <a:solidFill>
            <a:srgbClr val="0B1520"/>
          </a:solidFill>
          <a:ln w="12700">
            <a:solidFill>
              <a:srgbClr val="FFB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4023360" y="3364992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4023360" y="3694176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Rate  ⚠️ Low</a:t>
            </a:r>
            <a:endParaRPr lang="en-US" sz="700" dirty="0"/>
          </a:p>
        </p:txBody>
      </p:sp>
      <p:sp>
        <p:nvSpPr>
          <p:cNvPr id="20" name="Text 16"/>
          <p:cNvSpPr/>
          <p:nvPr/>
        </p:nvSpPr>
        <p:spPr>
          <a:xfrm>
            <a:off x="182880" y="4251960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defect rate &lt; 3% across all suppliers — quality levels are relatively controlled.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6080760" y="749808"/>
            <a:ext cx="2971800" cy="1115568"/>
          </a:xfrm>
          <a:prstGeom prst="rect">
            <a:avLst/>
          </a:prstGeom>
          <a:solidFill>
            <a:srgbClr val="172030"/>
          </a:solidFill>
          <a:ln w="9525">
            <a:solidFill>
              <a:srgbClr val="1E2D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8"/>
          <p:cNvSpPr/>
          <p:nvPr/>
        </p:nvSpPr>
        <p:spPr>
          <a:xfrm>
            <a:off x="6080760" y="749808"/>
            <a:ext cx="50292" cy="1115568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9"/>
          <p:cNvSpPr/>
          <p:nvPr/>
        </p:nvSpPr>
        <p:spPr>
          <a:xfrm>
            <a:off x="6190488" y="822960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Rates % — Bar Chart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6190488" y="1078992"/>
            <a:ext cx="278892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each supplier's defect rate as a percentage of total units.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Supplier5 leads with 2.67% — highest risk to product quality.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Supplier1 is the best performer at 1.80% — use as the quality benchmark.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6080760" y="1938528"/>
            <a:ext cx="2971800" cy="1115568"/>
          </a:xfrm>
          <a:prstGeom prst="rect">
            <a:avLst/>
          </a:prstGeom>
          <a:solidFill>
            <a:srgbClr val="172030"/>
          </a:solidFill>
          <a:ln w="9525">
            <a:solidFill>
              <a:srgbClr val="1E2D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2"/>
          <p:cNvSpPr/>
          <p:nvPr/>
        </p:nvSpPr>
        <p:spPr>
          <a:xfrm>
            <a:off x="6080760" y="1938528"/>
            <a:ext cx="50292" cy="111556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3"/>
          <p:cNvSpPr/>
          <p:nvPr/>
        </p:nvSpPr>
        <p:spPr>
          <a:xfrm>
            <a:off x="6190488" y="2011680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 Inspection Results — Donut Chart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6190488" y="2267712"/>
            <a:ext cx="278892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Donut chosen to show part-to-whole split of inspection outcomes.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Pass: 23%  |  Fail: 36%  |  Pending: 41%.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combined Fail + Pending rate of 77% signals a systemic quality control issue.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6080760" y="3127248"/>
            <a:ext cx="2971800" cy="804672"/>
          </a:xfrm>
          <a:prstGeom prst="rect">
            <a:avLst/>
          </a:prstGeom>
          <a:solidFill>
            <a:srgbClr val="172030"/>
          </a:solidFill>
          <a:ln w="9525">
            <a:solidFill>
              <a:srgbClr val="1E2D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6080760" y="3127248"/>
            <a:ext cx="50292" cy="804672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6190488" y="3200400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Observation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6190488" y="3456432"/>
            <a:ext cx="27889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rate is far below acceptable thresholds.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pending rate may indicate inspection backlog — prioritize resolution.</a:t>
            </a:r>
            <a:endParaRPr lang="en-US" sz="900" dirty="0"/>
          </a:p>
        </p:txBody>
      </p:sp>
      <p:sp>
        <p:nvSpPr>
          <p:cNvPr id="33" name="Shape 29"/>
          <p:cNvSpPr/>
          <p:nvPr/>
        </p:nvSpPr>
        <p:spPr>
          <a:xfrm>
            <a:off x="6080760" y="4041648"/>
            <a:ext cx="1435608" cy="640080"/>
          </a:xfrm>
          <a:prstGeom prst="rect">
            <a:avLst/>
          </a:prstGeom>
          <a:solidFill>
            <a:srgbClr val="172030"/>
          </a:solidFill>
          <a:ln w="12700">
            <a:solidFill>
              <a:srgbClr val="EF53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0"/>
          <p:cNvSpPr/>
          <p:nvPr/>
        </p:nvSpPr>
        <p:spPr>
          <a:xfrm>
            <a:off x="6080760" y="4041648"/>
            <a:ext cx="50292" cy="640080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1"/>
          <p:cNvSpPr/>
          <p:nvPr/>
        </p:nvSpPr>
        <p:spPr>
          <a:xfrm>
            <a:off x="6199632" y="4041648"/>
            <a:ext cx="12710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Fail + Pending = 77% — immediate quality review needed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7589520" y="4041648"/>
            <a:ext cx="1463040" cy="640080"/>
          </a:xfrm>
          <a:prstGeom prst="rect">
            <a:avLst/>
          </a:prstGeom>
          <a:solidFill>
            <a:srgbClr val="172030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3"/>
          <p:cNvSpPr/>
          <p:nvPr/>
        </p:nvSpPr>
        <p:spPr>
          <a:xfrm>
            <a:off x="7589520" y="4041648"/>
            <a:ext cx="50292" cy="640080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4"/>
          <p:cNvSpPr/>
          <p:nvPr/>
        </p:nvSpPr>
        <p:spPr>
          <a:xfrm>
            <a:off x="7708392" y="4041648"/>
            <a:ext cx="129844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Supplier1 best quality at 1.80% defect rate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28600" y="109728"/>
            <a:ext cx="402336" cy="402336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49808" y="91440"/>
            <a:ext cx="6858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Supplier Performance Analysis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863840" y="109728"/>
            <a:ext cx="1143000" cy="347472"/>
          </a:xfrm>
          <a:prstGeom prst="roundRect">
            <a:avLst>
              <a:gd name="adj" fmla="val 13158"/>
            </a:avLst>
          </a:prstGeom>
          <a:solidFill>
            <a:srgbClr val="1A3A2A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863840" y="109728"/>
            <a:ext cx="1143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0" y="658368"/>
            <a:ext cx="9144000" cy="41148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704088"/>
            <a:ext cx="5943600" cy="4434840"/>
          </a:xfrm>
          <a:prstGeom prst="rect">
            <a:avLst/>
          </a:prstGeom>
          <a:solidFill>
            <a:srgbClr val="131F30"/>
          </a:solidFill>
          <a:ln w="6350">
            <a:solidFill>
              <a:srgbClr val="1E2D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9" name="Table 0"/>
          <p:cNvGraphicFramePr>
            <a:graphicFrameLocks noGrp="1"/>
          </p:cNvGraphicFramePr>
          <p:nvPr/>
        </p:nvGraphicFramePr>
        <p:xfrm>
          <a:off x="91440" y="804672"/>
          <a:ext cx="5760720" cy="2432304"/>
        </p:xfrm>
        <a:graphic>
          <a:graphicData uri="http://schemas.openxmlformats.org/drawingml/2006/table">
            <a:tbl>
              <a:tblPr/>
              <a:tblGrid>
                <a:gridCol w="1152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21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21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21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21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Cosmetics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Haircare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Skincare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40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E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33,228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6C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96,728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157,529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Supplier2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44,576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57,391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125,457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Supplier3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28,826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97,796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Supplier4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25,860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41,918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86,469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3DDC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Supplier5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50,160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18,945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41,238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3DDC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110,343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161,521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174,453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241,628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40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577,605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E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137160" y="345643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Contribution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37160" y="37673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Skincare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1051560" y="3813048"/>
            <a:ext cx="3200400" cy="164592"/>
          </a:xfrm>
          <a:prstGeom prst="rect">
            <a:avLst/>
          </a:prstGeom>
          <a:solidFill>
            <a:srgbClr val="26C6DA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315968" y="376732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6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$242K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37160" y="4151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Haircare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1051560" y="4197096"/>
            <a:ext cx="2304288" cy="164592"/>
          </a:xfrm>
          <a:prstGeom prst="rect">
            <a:avLst/>
          </a:prstGeom>
          <a:solidFill>
            <a:srgbClr val="00B4D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3419856" y="415137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$174K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37160" y="45354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Cosmetics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1051560" y="4581144"/>
            <a:ext cx="2144268" cy="164592"/>
          </a:xfrm>
          <a:prstGeom prst="rect">
            <a:avLst/>
          </a:prstGeom>
          <a:solidFill>
            <a:srgbClr val="3DDC8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3259836" y="4535424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$162K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6080760" y="749808"/>
            <a:ext cx="2971800" cy="1097280"/>
          </a:xfrm>
          <a:prstGeom prst="rect">
            <a:avLst/>
          </a:prstGeom>
          <a:solidFill>
            <a:srgbClr val="172030"/>
          </a:solidFill>
          <a:ln w="9525">
            <a:solidFill>
              <a:srgbClr val="1E2D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6080760" y="749808"/>
            <a:ext cx="50292" cy="10972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6190488" y="822960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 Best Performance Table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190488" y="1078992"/>
            <a:ext cx="278892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Compares each supplier's revenue across Cosmetics, Haircare, Skincare.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Skincare dominates at $241K — highest-value category.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sourcing strategy with top-performing product lines.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6080760" y="1874520"/>
            <a:ext cx="2971800" cy="914400"/>
          </a:xfrm>
          <a:prstGeom prst="rect">
            <a:avLst/>
          </a:prstGeom>
          <a:solidFill>
            <a:srgbClr val="172030"/>
          </a:solidFill>
          <a:ln w="9525">
            <a:solidFill>
              <a:srgbClr val="1E2D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6080760" y="1874520"/>
            <a:ext cx="50292" cy="914400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190488" y="1947672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Supplier5 — Highest Total ($110K)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190488" y="2203704"/>
            <a:ext cx="278892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overall contributor despite having the highest defect rate (2.67%).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quality improvements for Supplier5 — high volume amplifies defect impact.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6080760" y="2862072"/>
            <a:ext cx="2971800" cy="914400"/>
          </a:xfrm>
          <a:prstGeom prst="rect">
            <a:avLst/>
          </a:prstGeom>
          <a:solidFill>
            <a:srgbClr val="172030"/>
          </a:solidFill>
          <a:ln w="9525">
            <a:solidFill>
              <a:srgbClr val="1E2D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6080760" y="2862072"/>
            <a:ext cx="50292" cy="914400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6190488" y="2935224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Supplier3 — Lowest Total ($97K)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91256"/>
            <a:ext cx="278892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total contribution across all categories.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whether to consolidate its volume with higher-performing suppliers.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6080760" y="3840480"/>
            <a:ext cx="2971800" cy="749808"/>
          </a:xfrm>
          <a:prstGeom prst="rect">
            <a:avLst/>
          </a:prstGeom>
          <a:solidFill>
            <a:srgbClr val="172030"/>
          </a:solidFill>
          <a:ln w="9525">
            <a:solidFill>
              <a:srgbClr val="1E2D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6080760" y="3840480"/>
            <a:ext cx="50292" cy="749808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6190488" y="3913632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Recommendations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6190488" y="4169664"/>
            <a:ext cx="27889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Improve quality inspection process — raise pass rate from 23%.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Reduce Supplier5 defects — high volume amplifies risk.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Focus growth on Skincare — highest category value at $241K.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6080760" y="4663440"/>
            <a:ext cx="1435608" cy="384048"/>
          </a:xfrm>
          <a:prstGeom prst="rect">
            <a:avLst/>
          </a:prstGeom>
          <a:solidFill>
            <a:srgbClr val="172030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6080760" y="4663440"/>
            <a:ext cx="50292" cy="384048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6199632" y="4663440"/>
            <a:ext cx="12710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Supplier5 best revenue performance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7589520" y="4663440"/>
            <a:ext cx="1463040" cy="384048"/>
          </a:xfrm>
          <a:prstGeom prst="rect">
            <a:avLst/>
          </a:prstGeom>
          <a:solidFill>
            <a:srgbClr val="172030"/>
          </a:solidFill>
          <a:ln w="12700">
            <a:solidFill>
              <a:srgbClr val="FFB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7"/>
          <p:cNvSpPr/>
          <p:nvPr/>
        </p:nvSpPr>
        <p:spPr>
          <a:xfrm>
            <a:off x="7589520" y="4663440"/>
            <a:ext cx="50292" cy="384048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7708392" y="4663440"/>
            <a:ext cx="1298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Supplier3 lowest — review role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0" descr="/mnt/user-data/uploads/Supply_Chain_3.png"/>
          <p:cNvPicPr>
            <a:picLocks noChangeAspect="1"/>
          </p:cNvPicPr>
          <p:nvPr/>
        </p:nvPicPr>
        <p:blipFill>
          <a:blip r:embed="rId3"/>
          <a:srcRect b="79102"/>
          <a:stretch>
            <a:fillRect/>
          </a:stretch>
        </p:blipFill>
        <p:spPr>
          <a:xfrm>
            <a:off x="228600" y="962116"/>
            <a:ext cx="8677656" cy="1089965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32132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43891"/>
          </a:xfrm>
          <a:prstGeom prst="rect">
            <a:avLst/>
          </a:prstGeom>
          <a:solidFill>
            <a:srgbClr val="2ECC71"/>
          </a:solidFill>
          <a:ln/>
        </p:spPr>
      </p:sp>
      <p:sp>
        <p:nvSpPr>
          <p:cNvPr id="4" name="Shape 2"/>
          <p:cNvSpPr/>
          <p:nvPr/>
        </p:nvSpPr>
        <p:spPr>
          <a:xfrm>
            <a:off x="228600" y="155448"/>
            <a:ext cx="347472" cy="347472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5" name="Text 3"/>
          <p:cNvSpPr/>
          <p:nvPr/>
        </p:nvSpPr>
        <p:spPr>
          <a:xfrm>
            <a:off x="667512" y="118872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Quality &amp; Production — KPI Overview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589520" y="128016"/>
            <a:ext cx="1426464" cy="384048"/>
          </a:xfrm>
          <a:prstGeom prst="rect">
            <a:avLst/>
          </a:prstGeom>
          <a:solidFill>
            <a:srgbClr val="2ECC71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128016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&amp; Production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2212848"/>
            <a:ext cx="8741664" cy="293065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01168" y="2359152"/>
            <a:ext cx="2066544" cy="1005840"/>
          </a:xfrm>
          <a:prstGeom prst="rect">
            <a:avLst/>
          </a:prstGeom>
          <a:solidFill>
            <a:srgbClr val="1A2D42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01168" y="2359152"/>
            <a:ext cx="2066544" cy="50292"/>
          </a:xfrm>
          <a:prstGeom prst="rect">
            <a:avLst/>
          </a:prstGeom>
          <a:solidFill>
            <a:srgbClr val="1B8EF8"/>
          </a:solidFill>
          <a:ln/>
        </p:spPr>
      </p:sp>
      <p:sp>
        <p:nvSpPr>
          <p:cNvPr id="13" name="Text 10"/>
          <p:cNvSpPr/>
          <p:nvPr/>
        </p:nvSpPr>
        <p:spPr>
          <a:xfrm>
            <a:off x="201168" y="2414016"/>
            <a:ext cx="2066544" cy="583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46K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201168" y="2982773"/>
            <a:ext cx="206654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Unit Sold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2414016" y="2359152"/>
            <a:ext cx="2066544" cy="1005840"/>
          </a:xfrm>
          <a:prstGeom prst="rect">
            <a:avLst/>
          </a:prstGeom>
          <a:solidFill>
            <a:srgbClr val="1A2D42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414016" y="2359152"/>
            <a:ext cx="2066544" cy="5029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7" name="Text 14"/>
          <p:cNvSpPr/>
          <p:nvPr/>
        </p:nvSpPr>
        <p:spPr>
          <a:xfrm>
            <a:off x="2414016" y="2414016"/>
            <a:ext cx="2066544" cy="583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$5.55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2414016" y="2982773"/>
            <a:ext cx="206654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Ave. Shipping Cost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26864" y="2359152"/>
            <a:ext cx="2066544" cy="1005840"/>
          </a:xfrm>
          <a:prstGeom prst="rect">
            <a:avLst/>
          </a:prstGeom>
          <a:solidFill>
            <a:srgbClr val="1A2D42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626864" y="2359152"/>
            <a:ext cx="2066544" cy="5029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1" name="Text 18"/>
          <p:cNvSpPr/>
          <p:nvPr/>
        </p:nvSpPr>
        <p:spPr>
          <a:xfrm>
            <a:off x="4626864" y="2414016"/>
            <a:ext cx="2066544" cy="583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4626864" y="2982773"/>
            <a:ext cx="206654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Ave. Shipping Times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839712" y="2359152"/>
            <a:ext cx="2066544" cy="1005840"/>
          </a:xfrm>
          <a:prstGeom prst="rect">
            <a:avLst/>
          </a:prstGeom>
          <a:solidFill>
            <a:srgbClr val="1A2D42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839712" y="2359152"/>
            <a:ext cx="2066544" cy="50292"/>
          </a:xfrm>
          <a:prstGeom prst="rect">
            <a:avLst/>
          </a:prstGeom>
          <a:solidFill>
            <a:srgbClr val="2ECC71"/>
          </a:solidFill>
          <a:ln/>
        </p:spPr>
      </p:sp>
      <p:sp>
        <p:nvSpPr>
          <p:cNvPr id="25" name="Text 22"/>
          <p:cNvSpPr/>
          <p:nvPr/>
        </p:nvSpPr>
        <p:spPr>
          <a:xfrm>
            <a:off x="6839712" y="2414016"/>
            <a:ext cx="2066544" cy="583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4,922</a:t>
            </a:r>
            <a:endParaRPr lang="en-US" sz="2800" dirty="0"/>
          </a:p>
        </p:txBody>
      </p:sp>
      <p:sp>
        <p:nvSpPr>
          <p:cNvPr id="26" name="Text 23"/>
          <p:cNvSpPr/>
          <p:nvPr/>
        </p:nvSpPr>
        <p:spPr>
          <a:xfrm>
            <a:off x="6839712" y="2982773"/>
            <a:ext cx="206654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Orders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201168" y="3493008"/>
            <a:ext cx="2066544" cy="1481328"/>
          </a:xfrm>
          <a:prstGeom prst="rect">
            <a:avLst/>
          </a:prstGeom>
          <a:solidFill>
            <a:srgbClr val="132132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201168" y="3493008"/>
            <a:ext cx="64008" cy="1481328"/>
          </a:xfrm>
          <a:prstGeom prst="rect">
            <a:avLst/>
          </a:prstGeom>
          <a:solidFill>
            <a:srgbClr val="1B8EF8"/>
          </a:solidFill>
          <a:ln/>
        </p:spPr>
      </p:sp>
      <p:sp>
        <p:nvSpPr>
          <p:cNvPr id="29" name="Text 26"/>
          <p:cNvSpPr/>
          <p:nvPr/>
        </p:nvSpPr>
        <p:spPr>
          <a:xfrm>
            <a:off x="365760" y="3584448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Unit Sold — 46K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365760" y="3913632"/>
            <a:ext cx="1792224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Represents the total volume of products shipped in the period.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 as the denominator when calculating per-unit cost or defect rate.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2414016" y="3493008"/>
            <a:ext cx="2066544" cy="1481328"/>
          </a:xfrm>
          <a:prstGeom prst="rect">
            <a:avLst/>
          </a:prstGeom>
          <a:solidFill>
            <a:srgbClr val="132132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2414016" y="3493008"/>
            <a:ext cx="64008" cy="148132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3" name="Text 30"/>
          <p:cNvSpPr/>
          <p:nvPr/>
        </p:nvSpPr>
        <p:spPr>
          <a:xfrm>
            <a:off x="2578608" y="3584448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Ave. Shipping Cost — $5.55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2578608" y="3913632"/>
            <a:ext cx="1792224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cost incurred per shipment across all routes and carriers.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this against Route and Carrier breakdowns to spot inefficiencies.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626864" y="3493008"/>
            <a:ext cx="2066544" cy="1481328"/>
          </a:xfrm>
          <a:prstGeom prst="rect">
            <a:avLst/>
          </a:prstGeom>
          <a:solidFill>
            <a:srgbClr val="132132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4626864" y="3493008"/>
            <a:ext cx="64008" cy="148132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7" name="Text 34"/>
          <p:cNvSpPr/>
          <p:nvPr/>
        </p:nvSpPr>
        <p:spPr>
          <a:xfrm>
            <a:off x="4791456" y="3584448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Ave. Shipping Time — 6 days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791456" y="3913632"/>
            <a:ext cx="1792224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days from dispatch to delivery across all transport modes.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against Carrier Performance chart to identify who drives delays.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6839712" y="3493008"/>
            <a:ext cx="2066544" cy="1481328"/>
          </a:xfrm>
          <a:prstGeom prst="rect">
            <a:avLst/>
          </a:prstGeom>
          <a:solidFill>
            <a:srgbClr val="132132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6839712" y="3493008"/>
            <a:ext cx="64008" cy="1481328"/>
          </a:xfrm>
          <a:prstGeom prst="rect">
            <a:avLst/>
          </a:prstGeom>
          <a:solidFill>
            <a:srgbClr val="2ECC71"/>
          </a:solidFill>
          <a:ln/>
        </p:spPr>
      </p:sp>
      <p:sp>
        <p:nvSpPr>
          <p:cNvPr id="41" name="Text 38"/>
          <p:cNvSpPr/>
          <p:nvPr/>
        </p:nvSpPr>
        <p:spPr>
          <a:xfrm>
            <a:off x="7004304" y="3584448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Orders — 4,922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7004304" y="3913632"/>
            <a:ext cx="1792224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number of orders processed in the analysis window.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by units sold to get average order size — useful for demand planning.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01168" y="953887"/>
            <a:ext cx="8705088" cy="1108253"/>
          </a:xfrm>
          <a:prstGeom prst="rect">
            <a:avLst/>
          </a:prstGeom>
          <a:ln w="12700">
            <a:solidFill>
              <a:srgbClr val="2ECC71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32132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43891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4" name="Shape 2"/>
          <p:cNvSpPr/>
          <p:nvPr/>
        </p:nvSpPr>
        <p:spPr>
          <a:xfrm>
            <a:off x="228600" y="155448"/>
            <a:ext cx="347472" cy="347472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5" name="Text 3"/>
          <p:cNvSpPr/>
          <p:nvPr/>
        </p:nvSpPr>
        <p:spPr>
          <a:xfrm>
            <a:off x="667512" y="118872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Shipping Cost Analysis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589520" y="128016"/>
            <a:ext cx="1426464" cy="38404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128016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&amp; Production</a:t>
            </a:r>
            <a:endParaRPr lang="en-US" sz="800" dirty="0"/>
          </a:p>
        </p:txBody>
      </p:sp>
      <p:pic>
        <p:nvPicPr>
          <p:cNvPr id="8" name="Image 0" descr="/mnt/user-data/uploads/Supply_Chain_3.png"/>
          <p:cNvPicPr>
            <a:picLocks noChangeAspect="1"/>
          </p:cNvPicPr>
          <p:nvPr/>
        </p:nvPicPr>
        <p:blipFill>
          <a:blip r:embed="rId3"/>
          <a:srcRect l="1" t="19872" r="43790" b="43298"/>
          <a:stretch>
            <a:fillRect/>
          </a:stretch>
        </p:blipFill>
        <p:spPr>
          <a:xfrm>
            <a:off x="201168" y="848563"/>
            <a:ext cx="5043332" cy="210533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462272" y="777240"/>
            <a:ext cx="4681728" cy="43662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63440" y="777240"/>
            <a:ext cx="4279392" cy="1417320"/>
          </a:xfrm>
          <a:prstGeom prst="rect">
            <a:avLst/>
          </a:prstGeom>
          <a:solidFill>
            <a:srgbClr val="132132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63440" y="777240"/>
            <a:ext cx="64008" cy="14173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4" name="Text 11"/>
          <p:cNvSpPr/>
          <p:nvPr/>
        </p:nvSpPr>
        <p:spPr>
          <a:xfrm>
            <a:off x="4828032" y="86868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Donut Chart — Shipping Cost by Transport Mode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828032" y="1197864"/>
            <a:ext cx="400507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proportional cost split: Rail 27.6% | Air 28.2% | Road 28.97% | Sea 15.23%.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Donut chosen because we need to show part-to-whole relationships with the total visible.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is the most expensive mode despite not being the fastest — a cost optimization target.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663440" y="2304288"/>
            <a:ext cx="4279392" cy="1417320"/>
          </a:xfrm>
          <a:prstGeom prst="rect">
            <a:avLst/>
          </a:prstGeom>
          <a:solidFill>
            <a:srgbClr val="132132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663440" y="2304288"/>
            <a:ext cx="64008" cy="1417320"/>
          </a:xfrm>
          <a:prstGeom prst="rect">
            <a:avLst/>
          </a:prstGeom>
          <a:solidFill>
            <a:srgbClr val="1B8EF8"/>
          </a:solidFill>
          <a:ln/>
        </p:spPr>
      </p:sp>
      <p:sp>
        <p:nvSpPr>
          <p:cNvPr id="18" name="Text 15"/>
          <p:cNvSpPr/>
          <p:nvPr/>
        </p:nvSpPr>
        <p:spPr>
          <a:xfrm>
            <a:off x="4828032" y="239572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 — Shipping Costs by Route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828032" y="2724912"/>
            <a:ext cx="400507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bars rank Route A (231) &gt; Route B (205) &gt; Route C (118) by total cost.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show time — must be cross-referenced with Carrier Performance to judge value.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C is cheapest: investigate whether it can absorb more volume safely.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3840480"/>
            <a:ext cx="2057400" cy="475488"/>
          </a:xfrm>
          <a:prstGeom prst="rect">
            <a:avLst/>
          </a:prstGeom>
          <a:solidFill>
            <a:srgbClr val="1A2D42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663440" y="3840480"/>
            <a:ext cx="54864" cy="475488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2" name="Text 19"/>
          <p:cNvSpPr/>
          <p:nvPr/>
        </p:nvSpPr>
        <p:spPr>
          <a:xfrm>
            <a:off x="4791456" y="3840480"/>
            <a:ext cx="1874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Road = 28.97% of cost — review necessity vs speed benefit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885432" y="3840480"/>
            <a:ext cx="2057400" cy="475488"/>
          </a:xfrm>
          <a:prstGeom prst="rect">
            <a:avLst/>
          </a:prstGeom>
          <a:solidFill>
            <a:srgbClr val="1A2D42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885432" y="3840480"/>
            <a:ext cx="54864" cy="475488"/>
          </a:xfrm>
          <a:prstGeom prst="rect">
            <a:avLst/>
          </a:prstGeom>
          <a:solidFill>
            <a:srgbClr val="2ECC71"/>
          </a:solidFill>
          <a:ln/>
        </p:spPr>
      </p:sp>
      <p:sp>
        <p:nvSpPr>
          <p:cNvPr id="25" name="Text 22"/>
          <p:cNvSpPr/>
          <p:nvPr/>
        </p:nvSpPr>
        <p:spPr>
          <a:xfrm>
            <a:off x="7013448" y="3840480"/>
            <a:ext cx="1874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Route C at 118 is 49% cheaper than Route A</a:t>
            </a:r>
            <a:endParaRPr lang="en-US" sz="1000" dirty="0"/>
          </a:p>
        </p:txBody>
      </p:sp>
      <p:pic>
        <p:nvPicPr>
          <p:cNvPr id="26" name="Image 0" descr="/mnt/user-data/uploads/Supply_Chain_3.png">
            <a:extLst>
              <a:ext uri="{FF2B5EF4-FFF2-40B4-BE49-F238E27FC236}">
                <a16:creationId xmlns:a16="http://schemas.microsoft.com/office/drawing/2014/main" id="{8ECAA62F-D852-6EBB-9BA7-B568A5378D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0" t="55707" r="46737" b="9402"/>
          <a:stretch>
            <a:fillRect/>
          </a:stretch>
        </p:blipFill>
        <p:spPr>
          <a:xfrm>
            <a:off x="228600" y="3004601"/>
            <a:ext cx="4233672" cy="1966999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201168" y="777240"/>
            <a:ext cx="4261104" cy="4160520"/>
          </a:xfrm>
          <a:prstGeom prst="rect">
            <a:avLst/>
          </a:prstGeom>
          <a:ln w="15240">
            <a:solidFill>
              <a:srgbClr val="F5A623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32132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43891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Shape 2"/>
          <p:cNvSpPr/>
          <p:nvPr/>
        </p:nvSpPr>
        <p:spPr>
          <a:xfrm>
            <a:off x="228600" y="155448"/>
            <a:ext cx="347472" cy="347472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667512" y="118872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Carrier Performance Deep Dive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589520" y="128016"/>
            <a:ext cx="1426464" cy="38404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128016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&amp; Production</a:t>
            </a:r>
            <a:endParaRPr lang="en-US" sz="800" dirty="0"/>
          </a:p>
        </p:txBody>
      </p:sp>
      <p:pic>
        <p:nvPicPr>
          <p:cNvPr id="8" name="Image 0" descr="/mnt/user-data/uploads/Supply_Chain_3.png"/>
          <p:cNvPicPr>
            <a:picLocks noChangeAspect="1"/>
          </p:cNvPicPr>
          <p:nvPr/>
        </p:nvPicPr>
        <p:blipFill>
          <a:blip r:embed="rId3"/>
          <a:srcRect l="57673" t="19872" r="973" b="43024"/>
          <a:stretch>
            <a:fillRect/>
          </a:stretch>
        </p:blipFill>
        <p:spPr>
          <a:xfrm>
            <a:off x="182880" y="1413574"/>
            <a:ext cx="4279392" cy="240322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201168" y="777240"/>
            <a:ext cx="4261104" cy="4160520"/>
          </a:xfrm>
          <a:prstGeom prst="rect">
            <a:avLst/>
          </a:prstGeom>
          <a:ln w="15240">
            <a:solidFill>
              <a:srgbClr val="00B4D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63440" y="777240"/>
            <a:ext cx="4279392" cy="1508760"/>
          </a:xfrm>
          <a:prstGeom prst="rect">
            <a:avLst/>
          </a:prstGeom>
          <a:solidFill>
            <a:srgbClr val="132132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63440" y="777240"/>
            <a:ext cx="64008" cy="15087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4" name="Text 11"/>
          <p:cNvSpPr/>
          <p:nvPr/>
        </p:nvSpPr>
        <p:spPr>
          <a:xfrm>
            <a:off x="4828032" y="86868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Grouped Bar Chart?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828032" y="1197864"/>
            <a:ext cx="4005072" cy="996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compare TWO metrics (Time and Cost) across THREE carriers simultaneously.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Bar places both bars side by side per carrier — the only chart that shows this clearly.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 chart or two separate charts would make direct comparison much harder to read.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663440" y="2499638"/>
            <a:ext cx="4279392" cy="1691640"/>
          </a:xfrm>
          <a:prstGeom prst="rect">
            <a:avLst/>
          </a:prstGeom>
          <a:solidFill>
            <a:srgbClr val="132132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4800600" y="257279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Comparison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773168" y="2938550"/>
            <a:ext cx="4059936" cy="329184"/>
          </a:xfrm>
          <a:prstGeom prst="rect">
            <a:avLst/>
          </a:prstGeom>
          <a:solidFill>
            <a:srgbClr val="1A2D42"/>
          </a:solidFill>
          <a:ln/>
        </p:spPr>
      </p:sp>
      <p:sp>
        <p:nvSpPr>
          <p:cNvPr id="19" name="Text 16"/>
          <p:cNvSpPr/>
          <p:nvPr/>
        </p:nvSpPr>
        <p:spPr>
          <a:xfrm>
            <a:off x="4828032" y="297512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A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87568" y="297512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6.14d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400800" y="2975126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💲5.6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040880" y="297512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Slowest — review contract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773168" y="3322598"/>
            <a:ext cx="4059936" cy="329184"/>
          </a:xfrm>
          <a:prstGeom prst="rect">
            <a:avLst/>
          </a:prstGeom>
          <a:solidFill>
            <a:srgbClr val="132132"/>
          </a:solidFill>
          <a:ln/>
        </p:spPr>
      </p:sp>
      <p:sp>
        <p:nvSpPr>
          <p:cNvPr id="24" name="Text 21"/>
          <p:cNvSpPr/>
          <p:nvPr/>
        </p:nvSpPr>
        <p:spPr>
          <a:xfrm>
            <a:off x="4828032" y="335917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C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687568" y="3359174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6.03d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400800" y="3359174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💲5.6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7040880" y="335917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cost as A, slightly faster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773168" y="3706646"/>
            <a:ext cx="4059936" cy="329184"/>
          </a:xfrm>
          <a:prstGeom prst="rect">
            <a:avLst/>
          </a:prstGeom>
          <a:solidFill>
            <a:srgbClr val="1A2D42"/>
          </a:solidFill>
          <a:ln/>
        </p:spPr>
      </p:sp>
      <p:sp>
        <p:nvSpPr>
          <p:cNvPr id="29" name="Text 26"/>
          <p:cNvSpPr/>
          <p:nvPr/>
        </p:nvSpPr>
        <p:spPr>
          <a:xfrm>
            <a:off x="4828032" y="374322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B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5687568" y="374322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5.30d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400800" y="3743222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💲5.5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7040880" y="374322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— fastest &amp; cheapest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663440" y="4411981"/>
            <a:ext cx="2057400" cy="475488"/>
          </a:xfrm>
          <a:prstGeom prst="rect">
            <a:avLst/>
          </a:prstGeom>
          <a:solidFill>
            <a:srgbClr val="1A2D42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663440" y="4411981"/>
            <a:ext cx="54864" cy="475488"/>
          </a:xfrm>
          <a:prstGeom prst="rect">
            <a:avLst/>
          </a:prstGeom>
          <a:solidFill>
            <a:srgbClr val="2ECC71"/>
          </a:solidFill>
          <a:ln/>
        </p:spPr>
      </p:sp>
      <p:sp>
        <p:nvSpPr>
          <p:cNvPr id="35" name="Text 32"/>
          <p:cNvSpPr/>
          <p:nvPr/>
        </p:nvSpPr>
        <p:spPr>
          <a:xfrm>
            <a:off x="4791456" y="4411981"/>
            <a:ext cx="1874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Carrier B is the best value — prioritize for high-volume routes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885432" y="4411981"/>
            <a:ext cx="2057400" cy="475488"/>
          </a:xfrm>
          <a:prstGeom prst="rect">
            <a:avLst/>
          </a:prstGeom>
          <a:solidFill>
            <a:srgbClr val="1A2D42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6885432" y="4411981"/>
            <a:ext cx="54864" cy="475488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8" name="Text 35"/>
          <p:cNvSpPr/>
          <p:nvPr/>
        </p:nvSpPr>
        <p:spPr>
          <a:xfrm>
            <a:off x="7013448" y="4411981"/>
            <a:ext cx="1874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Carrier A costs same as C but is 0.11 days slower — no advantage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32132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43891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4" name="Shape 2"/>
          <p:cNvSpPr/>
          <p:nvPr/>
        </p:nvSpPr>
        <p:spPr>
          <a:xfrm>
            <a:off x="228600" y="155448"/>
            <a:ext cx="347472" cy="347472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5" name="Text 3"/>
          <p:cNvSpPr/>
          <p:nvPr/>
        </p:nvSpPr>
        <p:spPr>
          <a:xfrm>
            <a:off x="667512" y="118872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Logistics Efficiency — Time vs. Cost Analysis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589520" y="128016"/>
            <a:ext cx="1426464" cy="384048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128016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&amp; Production</a:t>
            </a:r>
            <a:endParaRPr lang="en-US" sz="800" dirty="0"/>
          </a:p>
        </p:txBody>
      </p:sp>
      <p:pic>
        <p:nvPicPr>
          <p:cNvPr id="8" name="Image 0" descr="/mnt/user-data/uploads/Supply_Chain_3.png"/>
          <p:cNvPicPr>
            <a:picLocks noChangeAspect="1"/>
          </p:cNvPicPr>
          <p:nvPr/>
        </p:nvPicPr>
        <p:blipFill>
          <a:blip r:embed="rId3"/>
          <a:srcRect l="57353" t="56923" r="1308" b="7943"/>
          <a:stretch>
            <a:fillRect/>
          </a:stretch>
        </p:blipFill>
        <p:spPr>
          <a:xfrm>
            <a:off x="201168" y="1447681"/>
            <a:ext cx="4261104" cy="262761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01168" y="777240"/>
            <a:ext cx="4261104" cy="4160520"/>
          </a:xfrm>
          <a:prstGeom prst="rect">
            <a:avLst/>
          </a:prstGeom>
          <a:ln w="15240">
            <a:solidFill>
              <a:srgbClr val="FFD16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63440" y="777240"/>
            <a:ext cx="4279392" cy="1417320"/>
          </a:xfrm>
          <a:prstGeom prst="rect">
            <a:avLst/>
          </a:prstGeom>
          <a:solidFill>
            <a:srgbClr val="132132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777240"/>
            <a:ext cx="64008" cy="141732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2" name="Text 9"/>
          <p:cNvSpPr/>
          <p:nvPr/>
        </p:nvSpPr>
        <p:spPr>
          <a:xfrm>
            <a:off x="4828032" y="86868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Scatter Plot?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828032" y="1197864"/>
            <a:ext cx="400507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only chart type that plots TWO continuous variables on X and Y axes simultaneously.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dot = one transport mode. Position tells the full story: cheap+fast vs expensive+slow.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other chart (bar, line, pie) can show this quadrant relationship in a single visual.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663440" y="2304288"/>
            <a:ext cx="4279392" cy="1874520"/>
          </a:xfrm>
          <a:prstGeom prst="rect">
            <a:avLst/>
          </a:prstGeom>
          <a:solidFill>
            <a:srgbClr val="132132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800600" y="23774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the Quadrants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800600" y="2761488"/>
            <a:ext cx="2011680" cy="566928"/>
          </a:xfrm>
          <a:prstGeom prst="rect">
            <a:avLst/>
          </a:prstGeom>
          <a:solidFill>
            <a:srgbClr val="1A2D42"/>
          </a:solidFill>
          <a:ln/>
        </p:spPr>
      </p:sp>
      <p:sp>
        <p:nvSpPr>
          <p:cNvPr id="17" name="Shape 14"/>
          <p:cNvSpPr/>
          <p:nvPr/>
        </p:nvSpPr>
        <p:spPr>
          <a:xfrm>
            <a:off x="4800600" y="2761488"/>
            <a:ext cx="54864" cy="566928"/>
          </a:xfrm>
          <a:prstGeom prst="rect">
            <a:avLst/>
          </a:prstGeom>
          <a:solidFill>
            <a:srgbClr val="2ECC71"/>
          </a:solidFill>
          <a:ln/>
        </p:spPr>
      </p:sp>
      <p:sp>
        <p:nvSpPr>
          <p:cNvPr id="18" name="Text 15"/>
          <p:cNvSpPr/>
          <p:nvPr/>
        </p:nvSpPr>
        <p:spPr>
          <a:xfrm>
            <a:off x="4928616" y="27980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Bottom-Left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928616" y="2980944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&amp; Cheap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928616" y="3127248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— maximize usage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4800600" y="3419856"/>
            <a:ext cx="2011680" cy="566928"/>
          </a:xfrm>
          <a:prstGeom prst="rect">
            <a:avLst/>
          </a:prstGeom>
          <a:solidFill>
            <a:srgbClr val="1A2D42"/>
          </a:solidFill>
          <a:ln/>
        </p:spPr>
      </p:sp>
      <p:sp>
        <p:nvSpPr>
          <p:cNvPr id="22" name="Shape 19"/>
          <p:cNvSpPr/>
          <p:nvPr/>
        </p:nvSpPr>
        <p:spPr>
          <a:xfrm>
            <a:off x="4800600" y="3419856"/>
            <a:ext cx="54864" cy="56692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3" name="Text 20"/>
          <p:cNvSpPr/>
          <p:nvPr/>
        </p:nvSpPr>
        <p:spPr>
          <a:xfrm>
            <a:off x="4928616" y="34564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Bottom-Right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928616" y="363931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&amp; Cheap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928616" y="3785616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 for non-urgent bulk shipments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940296" y="2761488"/>
            <a:ext cx="2011680" cy="566928"/>
          </a:xfrm>
          <a:prstGeom prst="rect">
            <a:avLst/>
          </a:prstGeom>
          <a:solidFill>
            <a:srgbClr val="1A2D42"/>
          </a:solidFill>
          <a:ln/>
        </p:spPr>
      </p:sp>
      <p:sp>
        <p:nvSpPr>
          <p:cNvPr id="27" name="Shape 24"/>
          <p:cNvSpPr/>
          <p:nvPr/>
        </p:nvSpPr>
        <p:spPr>
          <a:xfrm>
            <a:off x="6940296" y="2761488"/>
            <a:ext cx="54864" cy="56692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8" name="Text 25"/>
          <p:cNvSpPr/>
          <p:nvPr/>
        </p:nvSpPr>
        <p:spPr>
          <a:xfrm>
            <a:off x="7068312" y="27980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Top-Left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068312" y="2980944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&amp; Expensive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068312" y="3127248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only for urgent orders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6940296" y="3419856"/>
            <a:ext cx="2011680" cy="566928"/>
          </a:xfrm>
          <a:prstGeom prst="rect">
            <a:avLst/>
          </a:prstGeom>
          <a:solidFill>
            <a:srgbClr val="1A2D42"/>
          </a:solidFill>
          <a:ln/>
        </p:spPr>
      </p:sp>
      <p:sp>
        <p:nvSpPr>
          <p:cNvPr id="32" name="Shape 29"/>
          <p:cNvSpPr/>
          <p:nvPr/>
        </p:nvSpPr>
        <p:spPr>
          <a:xfrm>
            <a:off x="6940296" y="3419856"/>
            <a:ext cx="54864" cy="566928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3" name="Text 30"/>
          <p:cNvSpPr/>
          <p:nvPr/>
        </p:nvSpPr>
        <p:spPr>
          <a:xfrm>
            <a:off x="7068312" y="34564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Top-Right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7068312" y="363931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&amp; Expensive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7068312" y="3785616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— worst of both worlds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663440" y="4315968"/>
            <a:ext cx="4279392" cy="475488"/>
          </a:xfrm>
          <a:prstGeom prst="rect">
            <a:avLst/>
          </a:prstGeom>
          <a:solidFill>
            <a:srgbClr val="1A2D42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4663440" y="4315968"/>
            <a:ext cx="54864" cy="475488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38" name="Text 35"/>
          <p:cNvSpPr/>
          <p:nvPr/>
        </p:nvSpPr>
        <p:spPr>
          <a:xfrm>
            <a:off x="4791456" y="4315968"/>
            <a:ext cx="40965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Key finding: </a:t>
            </a:r>
            <a:r>
              <a:rPr lang="en-US" sz="10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bottom-left (best). </a:t>
            </a: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top-right (worst).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Rail dependency.</a:t>
            </a:r>
            <a:endParaRPr lang="en-US" sz="1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58D4917-2693-2191-9ECF-A4ADE1BBA127}"/>
              </a:ext>
            </a:extLst>
          </p:cNvPr>
          <p:cNvSpPr/>
          <p:nvPr/>
        </p:nvSpPr>
        <p:spPr>
          <a:xfrm>
            <a:off x="667512" y="2103120"/>
            <a:ext cx="1836697" cy="877824"/>
          </a:xfrm>
          <a:prstGeom prst="rect">
            <a:avLst/>
          </a:prstGeom>
          <a:solidFill>
            <a:srgbClr val="F5A623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D29BD76-6FE2-1726-758A-9A54FED8F382}"/>
              </a:ext>
            </a:extLst>
          </p:cNvPr>
          <p:cNvSpPr/>
          <p:nvPr/>
        </p:nvSpPr>
        <p:spPr>
          <a:xfrm>
            <a:off x="667510" y="2980944"/>
            <a:ext cx="1836697" cy="877824"/>
          </a:xfrm>
          <a:prstGeom prst="rect">
            <a:avLst/>
          </a:prstGeom>
          <a:solidFill>
            <a:srgbClr val="2ECC71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0AEB99E-D489-FFD1-4190-AB901CF94D0A}"/>
              </a:ext>
            </a:extLst>
          </p:cNvPr>
          <p:cNvSpPr/>
          <p:nvPr/>
        </p:nvSpPr>
        <p:spPr>
          <a:xfrm>
            <a:off x="2504208" y="2973265"/>
            <a:ext cx="1836697" cy="877824"/>
          </a:xfrm>
          <a:prstGeom prst="rect">
            <a:avLst/>
          </a:prstGeom>
          <a:solidFill>
            <a:srgbClr val="00B4D8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AB839AE-5009-3952-78FE-78ADDEEB2E49}"/>
              </a:ext>
            </a:extLst>
          </p:cNvPr>
          <p:cNvSpPr/>
          <p:nvPr/>
        </p:nvSpPr>
        <p:spPr>
          <a:xfrm>
            <a:off x="2504209" y="2103120"/>
            <a:ext cx="1836697" cy="877824"/>
          </a:xfrm>
          <a:prstGeom prst="rect">
            <a:avLst/>
          </a:prstGeom>
          <a:solidFill>
            <a:srgbClr val="E74C3C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280160"/>
            <a:ext cx="4754880" cy="4754880"/>
          </a:xfrm>
          <a:prstGeom prst="ellipse">
            <a:avLst/>
          </a:prstGeom>
          <a:solidFill>
            <a:srgbClr val="00B4D8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06640" y="-548640"/>
            <a:ext cx="2926080" cy="2926080"/>
          </a:xfrm>
          <a:prstGeom prst="ellipse">
            <a:avLst/>
          </a:prstGeom>
          <a:solidFill>
            <a:srgbClr val="00B4D8">
              <a:alpha val="17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731520" y="3200400"/>
            <a:ext cx="2743200" cy="2743200"/>
          </a:xfrm>
          <a:prstGeom prst="ellipse">
            <a:avLst/>
          </a:prstGeom>
          <a:solidFill>
            <a:srgbClr val="FFB703">
              <a:alpha val="1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4114800" y="3840480"/>
            <a:ext cx="1828800" cy="182880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10896"/>
            <a:ext cx="2331720" cy="365760"/>
          </a:xfrm>
          <a:prstGeom prst="rect">
            <a:avLst/>
          </a:prstGeom>
          <a:solidFill>
            <a:srgbClr val="00B4D8">
              <a:alpha val="78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310896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Digital Egypt Pioneers Initiative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" y="8229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Supply Chain Analytics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411480" y="164592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Final Report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11480" y="24231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 •  Conclusions  •  Recommendations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228600" y="18288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Findings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28600" y="7498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revealed — Part 1 of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8600" y="1078992"/>
            <a:ext cx="8686800" cy="0"/>
          </a:xfrm>
          <a:prstGeom prst="line">
            <a:avLst/>
          </a:prstGeom>
          <a:noFill/>
          <a:ln w="10160">
            <a:solidFill>
              <a:srgbClr val="16345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1188720"/>
            <a:ext cx="4206240" cy="1719072"/>
          </a:xfrm>
          <a:prstGeom prst="rect">
            <a:avLst/>
          </a:prstGeom>
          <a:solidFill>
            <a:srgbClr val="102840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1188720"/>
            <a:ext cx="64008" cy="171907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Shape 6"/>
          <p:cNvSpPr/>
          <p:nvPr/>
        </p:nvSpPr>
        <p:spPr>
          <a:xfrm>
            <a:off x="393192" y="1298448"/>
            <a:ext cx="438912" cy="438912"/>
          </a:xfrm>
          <a:prstGeom prst="ellipse">
            <a:avLst/>
          </a:prstGeom>
          <a:solidFill>
            <a:srgbClr val="00B4D8">
              <a:alpha val="7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393192" y="12984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💄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23544" y="1353312"/>
            <a:ext cx="658368" cy="201168"/>
          </a:xfrm>
          <a:prstGeom prst="rect">
            <a:avLst/>
          </a:prstGeom>
          <a:solidFill>
            <a:srgbClr val="00B4D8">
              <a:alpha val="7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923544" y="135331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93192" y="1773936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Skincare Dominates Revenue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3192" y="2066544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Skincare generated ~$241K — 42% of total revenue.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profit margin despite lower unit volume vs. other categories.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driver: premium pricing + strong demand in the Indian market.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188720"/>
            <a:ext cx="4206240" cy="1719072"/>
          </a:xfrm>
          <a:prstGeom prst="rect">
            <a:avLst/>
          </a:prstGeom>
          <a:solidFill>
            <a:srgbClr val="102840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188720"/>
            <a:ext cx="64008" cy="1719072"/>
          </a:xfrm>
          <a:prstGeom prst="rect">
            <a:avLst/>
          </a:prstGeom>
          <a:solidFill>
            <a:srgbClr val="EF476F"/>
          </a:solidFill>
          <a:ln/>
        </p:spPr>
      </p:sp>
      <p:sp>
        <p:nvSpPr>
          <p:cNvPr id="16" name="Shape 14"/>
          <p:cNvSpPr/>
          <p:nvPr/>
        </p:nvSpPr>
        <p:spPr>
          <a:xfrm>
            <a:off x="4873752" y="1298448"/>
            <a:ext cx="438912" cy="438912"/>
          </a:xfrm>
          <a:prstGeom prst="ellipse">
            <a:avLst/>
          </a:prstGeom>
          <a:solidFill>
            <a:srgbClr val="EF476F">
              <a:alpha val="7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873752" y="12984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⚠️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04104" y="1353312"/>
            <a:ext cx="658368" cy="201168"/>
          </a:xfrm>
          <a:prstGeom prst="rect">
            <a:avLst/>
          </a:prstGeom>
          <a:solidFill>
            <a:srgbClr val="EF476F">
              <a:alpha val="7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5404104" y="135331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873752" y="1773936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Quality Failure Rate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73752" y="2066544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23% of products PASSED inspection.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FAILED outright — 41% still Pending review.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 of inventory is either defective or unvalidated — a direct threat to brand reputation.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28600" y="3035808"/>
            <a:ext cx="4206240" cy="1719072"/>
          </a:xfrm>
          <a:prstGeom prst="rect">
            <a:avLst/>
          </a:prstGeom>
          <a:solidFill>
            <a:srgbClr val="102840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28600" y="3035808"/>
            <a:ext cx="64008" cy="1719072"/>
          </a:xfrm>
          <a:prstGeom prst="rect">
            <a:avLst/>
          </a:prstGeom>
          <a:solidFill>
            <a:srgbClr val="FFB703"/>
          </a:solidFill>
          <a:ln/>
        </p:spPr>
      </p:sp>
      <p:sp>
        <p:nvSpPr>
          <p:cNvPr id="24" name="Shape 22"/>
          <p:cNvSpPr/>
          <p:nvPr/>
        </p:nvSpPr>
        <p:spPr>
          <a:xfrm>
            <a:off x="393192" y="3145536"/>
            <a:ext cx="438912" cy="438912"/>
          </a:xfrm>
          <a:prstGeom prst="ellipse">
            <a:avLst/>
          </a:prstGeom>
          <a:solidFill>
            <a:srgbClr val="FFB703">
              <a:alpha val="7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393192" y="31455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🏙️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923544" y="3200400"/>
            <a:ext cx="658368" cy="201168"/>
          </a:xfrm>
          <a:prstGeom prst="rect">
            <a:avLst/>
          </a:prstGeom>
          <a:solidFill>
            <a:srgbClr val="FFB703">
              <a:alpha val="7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923544" y="3200400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393192" y="3621024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Mumbai &amp; Kolkata Lead; Delhi Underperforms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93192" y="3913632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Mumbai + Kolkata = ~48% of total revenue combined.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 sells high volume but generates disproportionately low revenue.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Indicates a pricing misalignment or lower-margin product mix in Delhi.</a:t>
            </a:r>
            <a:endParaRPr lang="en-US" sz="950" dirty="0"/>
          </a:p>
        </p:txBody>
      </p:sp>
      <p:graphicFrame>
        <p:nvGraphicFramePr>
          <p:cNvPr id="30" name="Chart 0"/>
          <p:cNvGraphicFramePr/>
          <p:nvPr/>
        </p:nvGraphicFramePr>
        <p:xfrm>
          <a:off x="4709160" y="3035808"/>
          <a:ext cx="4206240" cy="17190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228600" y="18288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Findings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28600" y="7498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performance, logistics &amp; predictive analytics — Part 2 of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8600" y="1078992"/>
            <a:ext cx="8686800" cy="0"/>
          </a:xfrm>
          <a:prstGeom prst="line">
            <a:avLst/>
          </a:prstGeom>
          <a:noFill/>
          <a:ln w="10160">
            <a:solidFill>
              <a:srgbClr val="16345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1188720"/>
            <a:ext cx="4206240" cy="1627632"/>
          </a:xfrm>
          <a:prstGeom prst="rect">
            <a:avLst/>
          </a:prstGeom>
          <a:solidFill>
            <a:srgbClr val="102840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1188720"/>
            <a:ext cx="64008" cy="1627632"/>
          </a:xfrm>
          <a:prstGeom prst="rect">
            <a:avLst/>
          </a:prstGeom>
          <a:solidFill>
            <a:srgbClr val="EF476F"/>
          </a:solidFill>
          <a:ln/>
        </p:spPr>
      </p:sp>
      <p:sp>
        <p:nvSpPr>
          <p:cNvPr id="8" name="Shape 6"/>
          <p:cNvSpPr/>
          <p:nvPr/>
        </p:nvSpPr>
        <p:spPr>
          <a:xfrm>
            <a:off x="393192" y="1298448"/>
            <a:ext cx="438912" cy="438912"/>
          </a:xfrm>
          <a:prstGeom prst="ellipse">
            <a:avLst/>
          </a:prstGeom>
          <a:solidFill>
            <a:srgbClr val="EF476F">
              <a:alpha val="7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393192" y="12984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🏭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23544" y="1353312"/>
            <a:ext cx="658368" cy="201168"/>
          </a:xfrm>
          <a:prstGeom prst="rect">
            <a:avLst/>
          </a:prstGeom>
          <a:solidFill>
            <a:srgbClr val="EF476F">
              <a:alpha val="7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923544" y="135331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93192" y="1773936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5 — Highest Defect Rate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3192" y="2066544"/>
            <a:ext cx="391363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5 defect rate: 2.67% — highest across all vendors.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1 is the top performer on quality.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quality is inconsistent — requires continuous KPI monitoring.</a:t>
            </a:r>
            <a:endParaRPr lang="en-US" sz="950" dirty="0"/>
          </a:p>
        </p:txBody>
      </p:sp>
      <p:graphicFrame>
        <p:nvGraphicFramePr>
          <p:cNvPr id="14" name="Chart 0"/>
          <p:cNvGraphicFramePr/>
          <p:nvPr/>
        </p:nvGraphicFramePr>
        <p:xfrm>
          <a:off x="4709160" y="1188720"/>
          <a:ext cx="4206240" cy="16276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Shape 12"/>
          <p:cNvSpPr/>
          <p:nvPr/>
        </p:nvSpPr>
        <p:spPr>
          <a:xfrm>
            <a:off x="228600" y="2944368"/>
            <a:ext cx="4206240" cy="1810512"/>
          </a:xfrm>
          <a:prstGeom prst="rect">
            <a:avLst/>
          </a:prstGeom>
          <a:solidFill>
            <a:srgbClr val="102840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28600" y="2944368"/>
            <a:ext cx="64008" cy="1810512"/>
          </a:xfrm>
          <a:prstGeom prst="rect">
            <a:avLst/>
          </a:prstGeom>
          <a:solidFill>
            <a:srgbClr val="FFB703"/>
          </a:solidFill>
          <a:ln/>
        </p:spPr>
      </p:sp>
      <p:sp>
        <p:nvSpPr>
          <p:cNvPr id="17" name="Shape 14"/>
          <p:cNvSpPr/>
          <p:nvPr/>
        </p:nvSpPr>
        <p:spPr>
          <a:xfrm>
            <a:off x="393192" y="3054096"/>
            <a:ext cx="438912" cy="438912"/>
          </a:xfrm>
          <a:prstGeom prst="ellipse">
            <a:avLst/>
          </a:prstGeom>
          <a:solidFill>
            <a:srgbClr val="FFB703">
              <a:alpha val="75000"/>
            </a:srgbClr>
          </a:solidFill>
          <a:ln/>
        </p:spPr>
      </p:sp>
      <p:sp>
        <p:nvSpPr>
          <p:cNvPr id="18" name="Text 15"/>
          <p:cNvSpPr/>
          <p:nvPr/>
        </p:nvSpPr>
        <p:spPr>
          <a:xfrm>
            <a:off x="393192" y="30540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🚛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23544" y="3108960"/>
            <a:ext cx="658368" cy="201168"/>
          </a:xfrm>
          <a:prstGeom prst="rect">
            <a:avLst/>
          </a:prstGeom>
          <a:solidFill>
            <a:srgbClr val="FFB703">
              <a:alpha val="70000"/>
            </a:srgbClr>
          </a:solidFill>
          <a:ln/>
        </p:spPr>
      </p:sp>
      <p:sp>
        <p:nvSpPr>
          <p:cNvPr id="20" name="Text 17"/>
          <p:cNvSpPr/>
          <p:nvPr/>
        </p:nvSpPr>
        <p:spPr>
          <a:xfrm>
            <a:off x="923544" y="3108960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393192" y="3529584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 Cost vs. Speed Trade-off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93192" y="3822192"/>
            <a:ext cx="391363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Road: fastest avg — 4.7 days. Best for time-sensitive routes.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Air: most expensive — NOT proportionally faster.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Sea: cheapest — significantly slower. Best for bulk non-urgent orders.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Air usage is cost-inefficient and needs rebalancing.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709160" y="2944368"/>
            <a:ext cx="4206240" cy="1810512"/>
          </a:xfrm>
          <a:prstGeom prst="rect">
            <a:avLst/>
          </a:prstGeom>
          <a:solidFill>
            <a:srgbClr val="102840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709160" y="2944368"/>
            <a:ext cx="64008" cy="181051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5" name="Shape 22"/>
          <p:cNvSpPr/>
          <p:nvPr/>
        </p:nvSpPr>
        <p:spPr>
          <a:xfrm>
            <a:off x="4873752" y="3054096"/>
            <a:ext cx="438912" cy="438912"/>
          </a:xfrm>
          <a:prstGeom prst="ellipse">
            <a:avLst/>
          </a:prstGeom>
          <a:solidFill>
            <a:srgbClr val="8B5CF6">
              <a:alpha val="75000"/>
            </a:srgbClr>
          </a:solidFill>
          <a:ln/>
        </p:spPr>
      </p:sp>
      <p:sp>
        <p:nvSpPr>
          <p:cNvPr id="26" name="Text 23"/>
          <p:cNvSpPr/>
          <p:nvPr/>
        </p:nvSpPr>
        <p:spPr>
          <a:xfrm>
            <a:off x="4873752" y="30540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🤖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404104" y="3108960"/>
            <a:ext cx="658368" cy="201168"/>
          </a:xfrm>
          <a:prstGeom prst="rect">
            <a:avLst/>
          </a:prstGeom>
          <a:solidFill>
            <a:srgbClr val="8B5CF6">
              <a:alpha val="70000"/>
            </a:srgbClr>
          </a:solidFill>
          <a:ln/>
        </p:spPr>
      </p:sp>
      <p:sp>
        <p:nvSpPr>
          <p:cNvPr id="28" name="Text 25"/>
          <p:cNvSpPr/>
          <p:nvPr/>
        </p:nvSpPr>
        <p:spPr>
          <a:xfrm>
            <a:off x="5404104" y="3108960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AI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4873752" y="3529584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Predicts 29 At-Risk SKUs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873752" y="3822192"/>
            <a:ext cx="391363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model trained to predict Stock Shortage risk.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29 SKUs with high probability of running out of stock.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proactive restocking — acting before shortages occur, not after.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3" name="Text 1"/>
          <p:cNvSpPr/>
          <p:nvPr/>
        </p:nvSpPr>
        <p:spPr>
          <a:xfrm>
            <a:off x="228600" y="18288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28600" y="7498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strategic takeaways from the analysis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8600" y="1078992"/>
            <a:ext cx="8686800" cy="0"/>
          </a:xfrm>
          <a:prstGeom prst="line">
            <a:avLst/>
          </a:prstGeom>
          <a:noFill/>
          <a:ln w="10160">
            <a:solidFill>
              <a:srgbClr val="16345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1188720"/>
            <a:ext cx="4206240" cy="1554480"/>
          </a:xfrm>
          <a:prstGeom prst="rect">
            <a:avLst/>
          </a:prstGeom>
          <a:solidFill>
            <a:srgbClr val="102840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1188720"/>
            <a:ext cx="4206240" cy="50292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8" name="Shape 6"/>
          <p:cNvSpPr/>
          <p:nvPr/>
        </p:nvSpPr>
        <p:spPr>
          <a:xfrm>
            <a:off x="374904" y="1298448"/>
            <a:ext cx="457200" cy="457200"/>
          </a:xfrm>
          <a:prstGeom prst="ellipse">
            <a:avLst/>
          </a:prstGeom>
          <a:solidFill>
            <a:srgbClr val="06D6A0"/>
          </a:solidFill>
          <a:ln/>
        </p:spPr>
      </p:sp>
      <p:sp>
        <p:nvSpPr>
          <p:cNvPr id="9" name="Text 7"/>
          <p:cNvSpPr/>
          <p:nvPr/>
        </p:nvSpPr>
        <p:spPr>
          <a:xfrm>
            <a:off x="374904" y="1298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E2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41832" y="1335024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Financially Strong — but Geographically Concentrated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93192" y="1682496"/>
            <a:ext cx="3931920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margin is ~90% — the business is fundamentally healthy.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However, 48% of revenue is tied to just 2 cities (Mumbai + Kolkata).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demand drop in either city creates significant financial exposure.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09160" y="1188720"/>
            <a:ext cx="4206240" cy="1554480"/>
          </a:xfrm>
          <a:prstGeom prst="rect">
            <a:avLst/>
          </a:prstGeom>
          <a:solidFill>
            <a:srgbClr val="102840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1188720"/>
            <a:ext cx="4206240" cy="50292"/>
          </a:xfrm>
          <a:prstGeom prst="rect">
            <a:avLst/>
          </a:prstGeom>
          <a:solidFill>
            <a:srgbClr val="EF476F"/>
          </a:solidFill>
          <a:ln/>
        </p:spPr>
      </p:sp>
      <p:sp>
        <p:nvSpPr>
          <p:cNvPr id="14" name="Shape 12"/>
          <p:cNvSpPr/>
          <p:nvPr/>
        </p:nvSpPr>
        <p:spPr>
          <a:xfrm>
            <a:off x="4855464" y="1298448"/>
            <a:ext cx="457200" cy="457200"/>
          </a:xfrm>
          <a:prstGeom prst="ellipse">
            <a:avLst/>
          </a:prstGeom>
          <a:solidFill>
            <a:srgbClr val="EF476F"/>
          </a:solidFill>
          <a:ln/>
        </p:spPr>
      </p:sp>
      <p:sp>
        <p:nvSpPr>
          <p:cNvPr id="15" name="Text 13"/>
          <p:cNvSpPr/>
          <p:nvPr/>
        </p:nvSpPr>
        <p:spPr>
          <a:xfrm>
            <a:off x="4855464" y="1298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E2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22392" y="1335024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Control is the #1 Operational Risk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73752" y="1682496"/>
            <a:ext cx="3931920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 of SKUs are either failed or awaiting inspection.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Defective products reaching customers cause returns, loss of trust, and legal risk.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more costly problem than the defects themselves.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28600" y="2944368"/>
            <a:ext cx="4206240" cy="1554480"/>
          </a:xfrm>
          <a:prstGeom prst="rect">
            <a:avLst/>
          </a:prstGeom>
          <a:solidFill>
            <a:srgbClr val="102840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28600" y="2944368"/>
            <a:ext cx="4206240" cy="50292"/>
          </a:xfrm>
          <a:prstGeom prst="rect">
            <a:avLst/>
          </a:prstGeom>
          <a:solidFill>
            <a:srgbClr val="FFB703"/>
          </a:solidFill>
          <a:ln/>
        </p:spPr>
      </p:sp>
      <p:sp>
        <p:nvSpPr>
          <p:cNvPr id="20" name="Shape 18"/>
          <p:cNvSpPr/>
          <p:nvPr/>
        </p:nvSpPr>
        <p:spPr>
          <a:xfrm>
            <a:off x="374904" y="3054096"/>
            <a:ext cx="457200" cy="457200"/>
          </a:xfrm>
          <a:prstGeom prst="ellipse">
            <a:avLst/>
          </a:prstGeom>
          <a:solidFill>
            <a:srgbClr val="FFB703"/>
          </a:solidFill>
          <a:ln/>
        </p:spPr>
      </p:sp>
      <p:sp>
        <p:nvSpPr>
          <p:cNvPr id="21" name="Text 19"/>
          <p:cNvSpPr/>
          <p:nvPr/>
        </p:nvSpPr>
        <p:spPr>
          <a:xfrm>
            <a:off x="374904" y="3054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E2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1832" y="3090672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Management is Reactive, Not Proactive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93192" y="3438144"/>
            <a:ext cx="3931920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approach responds to shortages after they occur.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predictive system was in place before this project.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 now provides an early warning system for 29 high-risk SKUs.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09160" y="2944368"/>
            <a:ext cx="4206240" cy="1554480"/>
          </a:xfrm>
          <a:prstGeom prst="rect">
            <a:avLst/>
          </a:prstGeom>
          <a:solidFill>
            <a:srgbClr val="102840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9160" y="2944368"/>
            <a:ext cx="4206240" cy="5029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6" name="Shape 24"/>
          <p:cNvSpPr/>
          <p:nvPr/>
        </p:nvSpPr>
        <p:spPr>
          <a:xfrm>
            <a:off x="4855464" y="3054096"/>
            <a:ext cx="457200" cy="45720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7" name="Text 25"/>
          <p:cNvSpPr/>
          <p:nvPr/>
        </p:nvSpPr>
        <p:spPr>
          <a:xfrm>
            <a:off x="4855464" y="3054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E2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422392" y="3090672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Decisions Add Measurable Financial Value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73752" y="3438144"/>
            <a:ext cx="3931920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analytics + AI can unlock $53K+ in annual savings.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Comes from reduced defect losses, optimized shipping, and better inventory.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proves the ROI of investing in a data analytics infrastructure.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B703"/>
          </a:solidFill>
          <a:ln/>
        </p:spPr>
      </p:sp>
      <p:sp>
        <p:nvSpPr>
          <p:cNvPr id="3" name="Text 1"/>
          <p:cNvSpPr/>
          <p:nvPr/>
        </p:nvSpPr>
        <p:spPr>
          <a:xfrm>
            <a:off x="228600" y="18288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Recommendations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28600" y="7498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actionable strategies — with quantified financial impact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8600" y="1078992"/>
            <a:ext cx="8686800" cy="0"/>
          </a:xfrm>
          <a:prstGeom prst="line">
            <a:avLst/>
          </a:prstGeom>
          <a:noFill/>
          <a:ln w="10160">
            <a:solidFill>
              <a:srgbClr val="16345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1188720"/>
            <a:ext cx="2798064" cy="3675888"/>
          </a:xfrm>
          <a:prstGeom prst="rect">
            <a:avLst/>
          </a:prstGeom>
          <a:solidFill>
            <a:srgbClr val="102840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1188720"/>
            <a:ext cx="2798064" cy="50292"/>
          </a:xfrm>
          <a:prstGeom prst="rect">
            <a:avLst/>
          </a:prstGeom>
          <a:solidFill>
            <a:srgbClr val="EF476F"/>
          </a:solidFill>
          <a:ln/>
        </p:spPr>
      </p:sp>
      <p:sp>
        <p:nvSpPr>
          <p:cNvPr id="8" name="Shape 6"/>
          <p:cNvSpPr/>
          <p:nvPr/>
        </p:nvSpPr>
        <p:spPr>
          <a:xfrm>
            <a:off x="374904" y="1280160"/>
            <a:ext cx="457200" cy="457200"/>
          </a:xfrm>
          <a:prstGeom prst="ellipse">
            <a:avLst/>
          </a:prstGeom>
          <a:solidFill>
            <a:srgbClr val="EF476F"/>
          </a:solidFill>
          <a:ln/>
        </p:spPr>
      </p:sp>
      <p:sp>
        <p:nvSpPr>
          <p:cNvPr id="9" name="Text 7"/>
          <p:cNvSpPr/>
          <p:nvPr/>
        </p:nvSpPr>
        <p:spPr>
          <a:xfrm>
            <a:off x="374904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</a:rPr>
              <a:t>🏭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41832" y="1298448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41832" y="149961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Quality Management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93192" y="1920240"/>
            <a:ext cx="128016" cy="128016"/>
          </a:xfrm>
          <a:prstGeom prst="ellipse">
            <a:avLst/>
          </a:prstGeom>
          <a:solidFill>
            <a:srgbClr val="EF476F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1847088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a Quality Audit on Supplier 5 immediately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93192" y="2249424"/>
            <a:ext cx="128016" cy="128016"/>
          </a:xfrm>
          <a:prstGeom prst="ellipse">
            <a:avLst/>
          </a:prstGeom>
          <a:solidFill>
            <a:srgbClr val="EF476F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2176272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Reallocate a portion of orders to Supplier 1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93192" y="2578608"/>
            <a:ext cx="128016" cy="128016"/>
          </a:xfrm>
          <a:prstGeom prst="ellipse">
            <a:avLst/>
          </a:prstGeom>
          <a:solidFill>
            <a:srgbClr val="EF476F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2505456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monthly KPI reviews on defect rates per vendor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93192" y="2907792"/>
            <a:ext cx="128016" cy="128016"/>
          </a:xfrm>
          <a:prstGeom prst="ellipse">
            <a:avLst/>
          </a:prstGeom>
          <a:solidFill>
            <a:srgbClr val="EF476F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2834640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acceptable thresholds — delist non-compliant suppliers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4904" y="4407408"/>
            <a:ext cx="2505456" cy="329184"/>
          </a:xfrm>
          <a:prstGeom prst="rect">
            <a:avLst/>
          </a:prstGeom>
          <a:solidFill>
            <a:srgbClr val="06D6A0">
              <a:alpha val="2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374904" y="4407408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 Estimated Saving: ~$15,000 / year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191256" y="1188720"/>
            <a:ext cx="2798064" cy="3675888"/>
          </a:xfrm>
          <a:prstGeom prst="rect">
            <a:avLst/>
          </a:prstGeom>
          <a:solidFill>
            <a:srgbClr val="102840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91256" y="1188720"/>
            <a:ext cx="2798064" cy="5029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4" name="Shape 22"/>
          <p:cNvSpPr/>
          <p:nvPr/>
        </p:nvSpPr>
        <p:spPr>
          <a:xfrm>
            <a:off x="3337560" y="128016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5" name="Text 23"/>
          <p:cNvSpPr/>
          <p:nvPr/>
        </p:nvSpPr>
        <p:spPr>
          <a:xfrm>
            <a:off x="333756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</a:rPr>
              <a:t>📦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3904488" y="1298448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904488" y="149961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Inventory Management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355848" y="1920240"/>
            <a:ext cx="128016" cy="128016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9" name="Text 27"/>
          <p:cNvSpPr/>
          <p:nvPr/>
        </p:nvSpPr>
        <p:spPr>
          <a:xfrm>
            <a:off x="3557016" y="1847088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Minimum Stock Levels per SKU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55848" y="2249424"/>
            <a:ext cx="128016" cy="128016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31" name="Text 29"/>
          <p:cNvSpPr/>
          <p:nvPr/>
        </p:nvSpPr>
        <p:spPr>
          <a:xfrm>
            <a:off x="3557016" y="2176272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ML predictions into weekly restock decisions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355848" y="2578608"/>
            <a:ext cx="128016" cy="128016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33" name="Text 31"/>
          <p:cNvSpPr/>
          <p:nvPr/>
        </p:nvSpPr>
        <p:spPr>
          <a:xfrm>
            <a:off x="3557016" y="2505456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from monthly to weekly inventory reviews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355848" y="2907792"/>
            <a:ext cx="128016" cy="128016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35" name="Text 33"/>
          <p:cNvSpPr/>
          <p:nvPr/>
        </p:nvSpPr>
        <p:spPr>
          <a:xfrm>
            <a:off x="3557016" y="2834640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the 29 flagged at-risk SKUs immediately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337560" y="4407408"/>
            <a:ext cx="2505456" cy="329184"/>
          </a:xfrm>
          <a:prstGeom prst="rect">
            <a:avLst/>
          </a:prstGeom>
          <a:solidFill>
            <a:srgbClr val="06D6A0">
              <a:alpha val="2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3337560" y="4407408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 Estimated Saving: ~$30,000 / year (avoided lost sales)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153912" y="1188720"/>
            <a:ext cx="2798064" cy="3675888"/>
          </a:xfrm>
          <a:prstGeom prst="rect">
            <a:avLst/>
          </a:prstGeom>
          <a:solidFill>
            <a:srgbClr val="102840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153912" y="1188720"/>
            <a:ext cx="2798064" cy="50292"/>
          </a:xfrm>
          <a:prstGeom prst="rect">
            <a:avLst/>
          </a:prstGeom>
          <a:solidFill>
            <a:srgbClr val="FFB703"/>
          </a:solidFill>
          <a:ln/>
        </p:spPr>
      </p:sp>
      <p:sp>
        <p:nvSpPr>
          <p:cNvPr id="40" name="Shape 38"/>
          <p:cNvSpPr/>
          <p:nvPr/>
        </p:nvSpPr>
        <p:spPr>
          <a:xfrm>
            <a:off x="6300216" y="1280160"/>
            <a:ext cx="457200" cy="457200"/>
          </a:xfrm>
          <a:prstGeom prst="ellipse">
            <a:avLst/>
          </a:prstGeom>
          <a:solidFill>
            <a:srgbClr val="FFB703"/>
          </a:solidFill>
          <a:ln/>
        </p:spPr>
      </p:sp>
      <p:sp>
        <p:nvSpPr>
          <p:cNvPr id="41" name="Text 39"/>
          <p:cNvSpPr/>
          <p:nvPr/>
        </p:nvSpPr>
        <p:spPr>
          <a:xfrm>
            <a:off x="63002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</a:rPr>
              <a:t>🚛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6867144" y="1298448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867144" y="149961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Mode Optimization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318504" y="1920240"/>
            <a:ext cx="128016" cy="128016"/>
          </a:xfrm>
          <a:prstGeom prst="ellipse">
            <a:avLst/>
          </a:prstGeom>
          <a:solidFill>
            <a:srgbClr val="FFB703"/>
          </a:solidFill>
          <a:ln/>
        </p:spPr>
      </p:sp>
      <p:sp>
        <p:nvSpPr>
          <p:cNvPr id="45" name="Text 43"/>
          <p:cNvSpPr/>
          <p:nvPr/>
        </p:nvSpPr>
        <p:spPr>
          <a:xfrm>
            <a:off x="6519672" y="1847088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Air freight share — reallocate to Sea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318504" y="2249424"/>
            <a:ext cx="128016" cy="128016"/>
          </a:xfrm>
          <a:prstGeom prst="ellipse">
            <a:avLst/>
          </a:prstGeom>
          <a:solidFill>
            <a:srgbClr val="FFB703"/>
          </a:solidFill>
          <a:ln/>
        </p:spPr>
      </p:sp>
      <p:sp>
        <p:nvSpPr>
          <p:cNvPr id="47" name="Text 45"/>
          <p:cNvSpPr/>
          <p:nvPr/>
        </p:nvSpPr>
        <p:spPr>
          <a:xfrm>
            <a:off x="6519672" y="2176272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Sea exclusively for non-urgent bulk shipments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318504" y="2578608"/>
            <a:ext cx="128016" cy="128016"/>
          </a:xfrm>
          <a:prstGeom prst="ellipse">
            <a:avLst/>
          </a:prstGeom>
          <a:solidFill>
            <a:srgbClr val="FFB703"/>
          </a:solidFill>
          <a:ln/>
        </p:spPr>
      </p:sp>
      <p:sp>
        <p:nvSpPr>
          <p:cNvPr id="49" name="Text 47"/>
          <p:cNvSpPr/>
          <p:nvPr/>
        </p:nvSpPr>
        <p:spPr>
          <a:xfrm>
            <a:off x="6519672" y="2505456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Route A cost vs. delivery time ROI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318504" y="2907792"/>
            <a:ext cx="128016" cy="128016"/>
          </a:xfrm>
          <a:prstGeom prst="ellipse">
            <a:avLst/>
          </a:prstGeom>
          <a:solidFill>
            <a:srgbClr val="FFB703"/>
          </a:solidFill>
          <a:ln/>
        </p:spPr>
      </p:sp>
      <p:sp>
        <p:nvSpPr>
          <p:cNvPr id="51" name="Text 49"/>
          <p:cNvSpPr/>
          <p:nvPr/>
        </p:nvSpPr>
        <p:spPr>
          <a:xfrm>
            <a:off x="6519672" y="2834640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Negotiate better rates with Carrier B (best value carrier)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300216" y="4407408"/>
            <a:ext cx="2505456" cy="329184"/>
          </a:xfrm>
          <a:prstGeom prst="rect">
            <a:avLst/>
          </a:prstGeom>
          <a:solidFill>
            <a:srgbClr val="06D6A0">
              <a:alpha val="20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6300216" y="4407408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 Estimated Saving: ~$8,200 / year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3" name="Text 1"/>
          <p:cNvSpPr/>
          <p:nvPr/>
        </p:nvSpPr>
        <p:spPr>
          <a:xfrm>
            <a:off x="228600" y="18288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Financial Impact Summary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28600" y="7498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losses vs. projected gains from implementing recommendations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8600" y="1078992"/>
            <a:ext cx="8686800" cy="0"/>
          </a:xfrm>
          <a:prstGeom prst="line">
            <a:avLst/>
          </a:prstGeom>
          <a:noFill/>
          <a:ln w="10160">
            <a:solidFill>
              <a:srgbClr val="16345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1188720"/>
            <a:ext cx="4160520" cy="3639312"/>
          </a:xfrm>
          <a:prstGeom prst="rect">
            <a:avLst/>
          </a:prstGeom>
          <a:solidFill>
            <a:srgbClr val="102840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1188720"/>
            <a:ext cx="4160520" cy="50292"/>
          </a:xfrm>
          <a:prstGeom prst="rect">
            <a:avLst/>
          </a:prstGeom>
          <a:solidFill>
            <a:srgbClr val="EF476F"/>
          </a:solidFill>
          <a:ln/>
        </p:spPr>
      </p:sp>
      <p:sp>
        <p:nvSpPr>
          <p:cNvPr id="8" name="Text 6"/>
          <p:cNvSpPr/>
          <p:nvPr/>
        </p:nvSpPr>
        <p:spPr>
          <a:xfrm>
            <a:off x="384048" y="126187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Current Annual Losses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84048" y="1719072"/>
            <a:ext cx="3840480" cy="548640"/>
          </a:xfrm>
          <a:prstGeom prst="rect">
            <a:avLst/>
          </a:prstGeom>
          <a:solidFill>
            <a:srgbClr val="163454"/>
          </a:solidFill>
          <a:ln/>
        </p:spPr>
      </p:sp>
      <p:sp>
        <p:nvSpPr>
          <p:cNvPr id="10" name="Text 8"/>
          <p:cNvSpPr/>
          <p:nvPr/>
        </p:nvSpPr>
        <p:spPr>
          <a:xfrm>
            <a:off x="512064" y="177393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Defective Products &amp; Returns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2384" y="177393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~$18,000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84048" y="2377440"/>
            <a:ext cx="3840480" cy="548640"/>
          </a:xfrm>
          <a:prstGeom prst="rect">
            <a:avLst/>
          </a:prstGeom>
          <a:solidFill>
            <a:srgbClr val="163454"/>
          </a:solidFill>
          <a:ln/>
        </p:spPr>
      </p:sp>
      <p:sp>
        <p:nvSpPr>
          <p:cNvPr id="13" name="Text 11"/>
          <p:cNvSpPr/>
          <p:nvPr/>
        </p:nvSpPr>
        <p:spPr>
          <a:xfrm>
            <a:off x="512064" y="243230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Inefficient Air Freight Overspend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72384" y="243230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~$12,000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84048" y="3035808"/>
            <a:ext cx="3840480" cy="548640"/>
          </a:xfrm>
          <a:prstGeom prst="rect">
            <a:avLst/>
          </a:prstGeom>
          <a:solidFill>
            <a:srgbClr val="163454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" y="309067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Stockout Lost Sales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72384" y="30906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~$10,000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84048" y="3694176"/>
            <a:ext cx="3840480" cy="548640"/>
          </a:xfrm>
          <a:prstGeom prst="rect">
            <a:avLst/>
          </a:prstGeom>
          <a:solidFill>
            <a:srgbClr val="163454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374904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Supplier Quality Failures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072384" y="37490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~$8,000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84048" y="4389120"/>
            <a:ext cx="3840480" cy="347472"/>
          </a:xfrm>
          <a:prstGeom prst="rect">
            <a:avLst/>
          </a:prstGeom>
          <a:solidFill>
            <a:srgbClr val="EF476F">
              <a:alpha val="7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493776" y="438912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Estimated Annual Loss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688336" y="4389120"/>
            <a:ext cx="1426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~$48,000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754880" y="1188720"/>
            <a:ext cx="4160520" cy="3639312"/>
          </a:xfrm>
          <a:prstGeom prst="rect">
            <a:avLst/>
          </a:prstGeom>
          <a:solidFill>
            <a:srgbClr val="102840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54880" y="1188720"/>
            <a:ext cx="4160520" cy="50292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30" name="Text 28"/>
          <p:cNvSpPr/>
          <p:nvPr/>
        </p:nvSpPr>
        <p:spPr>
          <a:xfrm>
            <a:off x="4910328" y="126187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Projected Annual Savings &amp; Gains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910328" y="1719072"/>
            <a:ext cx="3840480" cy="548640"/>
          </a:xfrm>
          <a:prstGeom prst="rect">
            <a:avLst/>
          </a:prstGeom>
          <a:solidFill>
            <a:srgbClr val="163454"/>
          </a:solidFill>
          <a:ln/>
        </p:spPr>
      </p:sp>
      <p:sp>
        <p:nvSpPr>
          <p:cNvPr id="32" name="Text 30"/>
          <p:cNvSpPr/>
          <p:nvPr/>
        </p:nvSpPr>
        <p:spPr>
          <a:xfrm>
            <a:off x="5038344" y="177393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R1 — Supplier Quality Improvement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598664" y="177393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~$15,000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910328" y="2377440"/>
            <a:ext cx="3840480" cy="548640"/>
          </a:xfrm>
          <a:prstGeom prst="rect">
            <a:avLst/>
          </a:prstGeom>
          <a:solidFill>
            <a:srgbClr val="163454"/>
          </a:solidFill>
          <a:ln/>
        </p:spPr>
      </p:sp>
      <p:sp>
        <p:nvSpPr>
          <p:cNvPr id="35" name="Text 33"/>
          <p:cNvSpPr/>
          <p:nvPr/>
        </p:nvSpPr>
        <p:spPr>
          <a:xfrm>
            <a:off x="5038344" y="243230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R2 — Smart Inventory (avoided loss)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598664" y="243230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~$30,000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910328" y="3035808"/>
            <a:ext cx="3840480" cy="548640"/>
          </a:xfrm>
          <a:prstGeom prst="rect">
            <a:avLst/>
          </a:prstGeom>
          <a:solidFill>
            <a:srgbClr val="163454"/>
          </a:solidFill>
          <a:ln/>
        </p:spPr>
      </p:sp>
      <p:sp>
        <p:nvSpPr>
          <p:cNvPr id="38" name="Text 36"/>
          <p:cNvSpPr/>
          <p:nvPr/>
        </p:nvSpPr>
        <p:spPr>
          <a:xfrm>
            <a:off x="5038344" y="309067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R3 — Transport Optimization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598664" y="309067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~$8,200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910328" y="3694176"/>
            <a:ext cx="3840480" cy="548640"/>
          </a:xfrm>
          <a:prstGeom prst="rect">
            <a:avLst/>
          </a:prstGeom>
          <a:solidFill>
            <a:srgbClr val="163454"/>
          </a:solidFill>
          <a:ln/>
        </p:spPr>
      </p:sp>
      <p:sp>
        <p:nvSpPr>
          <p:cNvPr id="41" name="Text 39"/>
          <p:cNvSpPr/>
          <p:nvPr/>
        </p:nvSpPr>
        <p:spPr>
          <a:xfrm>
            <a:off x="5038344" y="374904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Reduced Returns &amp; Brand Protection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598664" y="37490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~$3,000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910328" y="4389120"/>
            <a:ext cx="3840480" cy="347472"/>
          </a:xfrm>
          <a:prstGeom prst="rect">
            <a:avLst/>
          </a:prstGeom>
          <a:solidFill>
            <a:srgbClr val="06D6A0">
              <a:alpha val="70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5020056" y="43891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Projected Annual Return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06056" y="438912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~$56,200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371600"/>
            <a:ext cx="5029200" cy="5029200"/>
          </a:xfrm>
          <a:prstGeom prst="ellipse">
            <a:avLst/>
          </a:prstGeom>
          <a:solidFill>
            <a:srgbClr val="00B4D8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-457200"/>
            <a:ext cx="2743200" cy="2743200"/>
          </a:xfrm>
          <a:prstGeom prst="ellipse">
            <a:avLst/>
          </a:prstGeom>
          <a:solidFill>
            <a:srgbClr val="00B4D8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2926080"/>
            <a:ext cx="3200400" cy="3200400"/>
          </a:xfrm>
          <a:prstGeom prst="ellipse">
            <a:avLst/>
          </a:prstGeom>
          <a:solidFill>
            <a:srgbClr val="8B5CF6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7315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Analytics  •  DEPI Team 2  •  2025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176272"/>
            <a:ext cx="5943600" cy="1444752"/>
          </a:xfrm>
          <a:prstGeom prst="rect">
            <a:avLst/>
          </a:prstGeom>
          <a:solidFill>
            <a:srgbClr val="102840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176272"/>
            <a:ext cx="64008" cy="14447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286000"/>
            <a:ext cx="5577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demonstrated how Python , Excel and Power BI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transform raw supply chain data into actionable decisions —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reducing losses, improving quality, and optimizing logistics at scale.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694176"/>
            <a:ext cx="2651760" cy="1170432"/>
          </a:xfrm>
          <a:prstGeom prst="rect">
            <a:avLst/>
          </a:prstGeom>
          <a:solidFill>
            <a:srgbClr val="163454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3694176"/>
            <a:ext cx="2651760" cy="50292"/>
          </a:xfrm>
          <a:prstGeom prst="rect">
            <a:avLst/>
          </a:prstGeom>
          <a:solidFill>
            <a:srgbClr val="EF476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767328"/>
            <a:ext cx="2651760" cy="60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$48K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" y="4373027"/>
            <a:ext cx="2651760" cy="280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Losses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630522"/>
            <a:ext cx="2651760" cy="210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310128" y="3694176"/>
            <a:ext cx="2651760" cy="1170432"/>
          </a:xfrm>
          <a:prstGeom prst="rect">
            <a:avLst/>
          </a:prstGeom>
          <a:solidFill>
            <a:srgbClr val="163454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10128" y="3694176"/>
            <a:ext cx="2651760" cy="50292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17" name="Text 15"/>
          <p:cNvSpPr/>
          <p:nvPr/>
        </p:nvSpPr>
        <p:spPr>
          <a:xfrm>
            <a:off x="3310128" y="3767328"/>
            <a:ext cx="2651760" cy="60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$56K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3310128" y="4373027"/>
            <a:ext cx="2651760" cy="280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Annual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10128" y="4630522"/>
            <a:ext cx="2651760" cy="210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163056" y="3694176"/>
            <a:ext cx="2651760" cy="1170432"/>
          </a:xfrm>
          <a:prstGeom prst="rect">
            <a:avLst/>
          </a:prstGeom>
          <a:solidFill>
            <a:srgbClr val="163454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63056" y="3694176"/>
            <a:ext cx="2651760" cy="5029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2" name="Text 20"/>
          <p:cNvSpPr/>
          <p:nvPr/>
        </p:nvSpPr>
        <p:spPr>
          <a:xfrm>
            <a:off x="6163056" y="3767328"/>
            <a:ext cx="2651760" cy="60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29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6163056" y="4373027"/>
            <a:ext cx="2651760" cy="280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At-Risk SKUs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63056" y="4630522"/>
            <a:ext cx="2651760" cy="210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8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by ML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57200" y="4937760"/>
            <a:ext cx="8357616" cy="128016"/>
          </a:xfrm>
          <a:prstGeom prst="rect">
            <a:avLst/>
          </a:prstGeom>
          <a:solidFill>
            <a:srgbClr val="163454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487106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github.com/nehalshark/DEPI-Team2-Supply-Chain-DataAnalysis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4033</Words>
  <Application>Microsoft Office PowerPoint</Application>
  <PresentationFormat>On-screen Show (16:9)</PresentationFormat>
  <Paragraphs>683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Arial Black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Cleaning - Supply Chain</dc:title>
  <dc:subject>PptxGenJS Presentation</dc:subject>
  <dc:creator>PptxGenJS</dc:creator>
  <cp:lastModifiedBy>Mohamed Elsharkawy</cp:lastModifiedBy>
  <cp:revision>2</cp:revision>
  <dcterms:created xsi:type="dcterms:W3CDTF">2026-05-15T03:14:53Z</dcterms:created>
  <dcterms:modified xsi:type="dcterms:W3CDTF">2026-05-15T05:05:38Z</dcterms:modified>
</cp:coreProperties>
</file>